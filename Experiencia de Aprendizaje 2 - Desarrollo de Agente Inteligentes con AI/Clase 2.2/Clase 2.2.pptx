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8" r:id="rId3"/>
    <p:sldId id="279" r:id="rId4"/>
    <p:sldId id="292" r:id="rId5"/>
    <p:sldId id="295" r:id="rId6"/>
    <p:sldId id="301" r:id="rId7"/>
    <p:sldId id="302" r:id="rId8"/>
    <p:sldId id="303" r:id="rId9"/>
    <p:sldId id="304" r:id="rId10"/>
    <p:sldId id="297" r:id="rId11"/>
    <p:sldId id="298" r:id="rId12"/>
    <p:sldId id="299" r:id="rId13"/>
    <p:sldId id="294" r:id="rId14"/>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75" autoAdjust="0"/>
    <p:restoredTop sz="93173" autoAdjust="0"/>
  </p:normalViewPr>
  <p:slideViewPr>
    <p:cSldViewPr snapToGrid="0">
      <p:cViewPr varScale="1">
        <p:scale>
          <a:sx n="67" d="100"/>
          <a:sy n="67" d="100"/>
        </p:scale>
        <p:origin x="7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BDCB0C-69E9-4911-980B-989A824EA717}" type="datetimeFigureOut">
              <a:rPr lang="es-CL" smtClean="0"/>
              <a:t>14-04-2026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07F482-7FF7-4DD4-AE91-ACA70D5B43D5}" type="slidenum">
              <a:rPr lang="es-CL" smtClean="0"/>
              <a:t>‹Nº›</a:t>
            </a:fld>
            <a:endParaRPr lang="es-CL"/>
          </a:p>
        </p:txBody>
      </p:sp>
    </p:spTree>
    <p:extLst>
      <p:ext uri="{BB962C8B-B14F-4D97-AF65-F5344CB8AC3E}">
        <p14:creationId xmlns:p14="http://schemas.microsoft.com/office/powerpoint/2010/main" val="2209796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DEAFD-4343-FCD6-B55B-1DC6ADFA8B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663F13-E4FB-1728-4F5B-B4AD3446BBDB}"/>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7582B80E-EEE9-DD0C-FE86-EF7448CEF177}"/>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89470142-9316-8FDA-C204-1A98069595F4}"/>
              </a:ext>
            </a:extLst>
          </p:cNvPr>
          <p:cNvSpPr>
            <a:spLocks noGrp="1"/>
          </p:cNvSpPr>
          <p:nvPr>
            <p:ph type="sldNum" sz="quarter" idx="5"/>
          </p:nvPr>
        </p:nvSpPr>
        <p:spPr/>
        <p:txBody>
          <a:bodyPr/>
          <a:lstStyle/>
          <a:p>
            <a:fld id="{2107F482-7FF7-4DD4-AE91-ACA70D5B43D5}" type="slidenum">
              <a:rPr lang="es-CL" smtClean="0"/>
              <a:t>3</a:t>
            </a:fld>
            <a:endParaRPr lang="es-CL"/>
          </a:p>
        </p:txBody>
      </p:sp>
    </p:spTree>
    <p:extLst>
      <p:ext uri="{BB962C8B-B14F-4D97-AF65-F5344CB8AC3E}">
        <p14:creationId xmlns:p14="http://schemas.microsoft.com/office/powerpoint/2010/main" val="4129676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2B77B-5072-5F1C-0F10-0F491EF9CD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F49A66-BCE5-9419-631E-18BA30ED1CFD}"/>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F6441215-2564-E539-3753-60DE68CF8A6D}"/>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F268D863-15C2-C2CB-8958-1953C0F225CD}"/>
              </a:ext>
            </a:extLst>
          </p:cNvPr>
          <p:cNvSpPr>
            <a:spLocks noGrp="1"/>
          </p:cNvSpPr>
          <p:nvPr>
            <p:ph type="sldNum" sz="quarter" idx="5"/>
          </p:nvPr>
        </p:nvSpPr>
        <p:spPr/>
        <p:txBody>
          <a:bodyPr/>
          <a:lstStyle/>
          <a:p>
            <a:fld id="{2107F482-7FF7-4DD4-AE91-ACA70D5B43D5}" type="slidenum">
              <a:rPr lang="es-CL" smtClean="0"/>
              <a:t>4</a:t>
            </a:fld>
            <a:endParaRPr lang="es-CL"/>
          </a:p>
        </p:txBody>
      </p:sp>
    </p:spTree>
    <p:extLst>
      <p:ext uri="{BB962C8B-B14F-4D97-AF65-F5344CB8AC3E}">
        <p14:creationId xmlns:p14="http://schemas.microsoft.com/office/powerpoint/2010/main" val="2153837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5D755-401F-212C-29E7-E82B402933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51E324-73B2-6E7C-C858-D3EA5050212B}"/>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666F555D-2607-B7EB-4A7A-0659C8B3271D}"/>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4F3BC44B-E7DB-8F63-6596-01878405F702}"/>
              </a:ext>
            </a:extLst>
          </p:cNvPr>
          <p:cNvSpPr>
            <a:spLocks noGrp="1"/>
          </p:cNvSpPr>
          <p:nvPr>
            <p:ph type="sldNum" sz="quarter" idx="5"/>
          </p:nvPr>
        </p:nvSpPr>
        <p:spPr/>
        <p:txBody>
          <a:bodyPr/>
          <a:lstStyle/>
          <a:p>
            <a:fld id="{2107F482-7FF7-4DD4-AE91-ACA70D5B43D5}" type="slidenum">
              <a:rPr lang="es-CL" smtClean="0"/>
              <a:t>5</a:t>
            </a:fld>
            <a:endParaRPr lang="es-CL"/>
          </a:p>
        </p:txBody>
      </p:sp>
    </p:spTree>
    <p:extLst>
      <p:ext uri="{BB962C8B-B14F-4D97-AF65-F5344CB8AC3E}">
        <p14:creationId xmlns:p14="http://schemas.microsoft.com/office/powerpoint/2010/main" val="2303804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405EC-1C95-6887-579E-04BF37F010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7C260B-9A1A-B6B1-640F-F20D47E5305D}"/>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5843904F-5166-3E18-572D-FD712D0D1DD6}"/>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1D6A1062-25C3-C13B-6C34-A9338A002E4D}"/>
              </a:ext>
            </a:extLst>
          </p:cNvPr>
          <p:cNvSpPr>
            <a:spLocks noGrp="1"/>
          </p:cNvSpPr>
          <p:nvPr>
            <p:ph type="sldNum" sz="quarter" idx="5"/>
          </p:nvPr>
        </p:nvSpPr>
        <p:spPr/>
        <p:txBody>
          <a:bodyPr/>
          <a:lstStyle/>
          <a:p>
            <a:fld id="{2107F482-7FF7-4DD4-AE91-ACA70D5B43D5}" type="slidenum">
              <a:rPr lang="es-CL" smtClean="0"/>
              <a:t>6</a:t>
            </a:fld>
            <a:endParaRPr lang="es-CL"/>
          </a:p>
        </p:txBody>
      </p:sp>
    </p:spTree>
    <p:extLst>
      <p:ext uri="{BB962C8B-B14F-4D97-AF65-F5344CB8AC3E}">
        <p14:creationId xmlns:p14="http://schemas.microsoft.com/office/powerpoint/2010/main" val="2776734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91E5-5785-8B3C-EC8C-974C2648A91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A359111-BEAC-4ED1-F6C2-1BDE981CF42B}"/>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401D4FF0-D7CB-3704-C454-766B91D05A4C}"/>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DD1E449C-8FAB-EDA7-B0FF-EE676C20DD17}"/>
              </a:ext>
            </a:extLst>
          </p:cNvPr>
          <p:cNvSpPr>
            <a:spLocks noGrp="1"/>
          </p:cNvSpPr>
          <p:nvPr>
            <p:ph type="sldNum" sz="quarter" idx="5"/>
          </p:nvPr>
        </p:nvSpPr>
        <p:spPr/>
        <p:txBody>
          <a:bodyPr/>
          <a:lstStyle/>
          <a:p>
            <a:fld id="{2107F482-7FF7-4DD4-AE91-ACA70D5B43D5}" type="slidenum">
              <a:rPr lang="es-CL" smtClean="0"/>
              <a:t>7</a:t>
            </a:fld>
            <a:endParaRPr lang="es-CL"/>
          </a:p>
        </p:txBody>
      </p:sp>
    </p:spTree>
    <p:extLst>
      <p:ext uri="{BB962C8B-B14F-4D97-AF65-F5344CB8AC3E}">
        <p14:creationId xmlns:p14="http://schemas.microsoft.com/office/powerpoint/2010/main" val="3972515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BD61F-1B45-5F5A-02A3-4EC009B65A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4BF8DC6-9536-86F2-E737-525CC153890C}"/>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7FE3AA36-5F00-A5C8-B747-D0B4B57D6FF8}"/>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50C3D3A3-ED89-E02F-7E75-3A435A2E7E0C}"/>
              </a:ext>
            </a:extLst>
          </p:cNvPr>
          <p:cNvSpPr>
            <a:spLocks noGrp="1"/>
          </p:cNvSpPr>
          <p:nvPr>
            <p:ph type="sldNum" sz="quarter" idx="5"/>
          </p:nvPr>
        </p:nvSpPr>
        <p:spPr/>
        <p:txBody>
          <a:bodyPr/>
          <a:lstStyle/>
          <a:p>
            <a:fld id="{2107F482-7FF7-4DD4-AE91-ACA70D5B43D5}" type="slidenum">
              <a:rPr lang="es-CL" smtClean="0"/>
              <a:t>8</a:t>
            </a:fld>
            <a:endParaRPr lang="es-CL"/>
          </a:p>
        </p:txBody>
      </p:sp>
    </p:spTree>
    <p:extLst>
      <p:ext uri="{BB962C8B-B14F-4D97-AF65-F5344CB8AC3E}">
        <p14:creationId xmlns:p14="http://schemas.microsoft.com/office/powerpoint/2010/main" val="2467904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A656B-05CE-FAD1-21E7-BC3A37097E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632E8A0-B440-34E2-561E-C5E364A75328}"/>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D2F4F86B-D113-EB10-C40E-84E320F56608}"/>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443F51BC-CC9E-415E-1E53-28E7D509407F}"/>
              </a:ext>
            </a:extLst>
          </p:cNvPr>
          <p:cNvSpPr>
            <a:spLocks noGrp="1"/>
          </p:cNvSpPr>
          <p:nvPr>
            <p:ph type="sldNum" sz="quarter" idx="5"/>
          </p:nvPr>
        </p:nvSpPr>
        <p:spPr/>
        <p:txBody>
          <a:bodyPr/>
          <a:lstStyle/>
          <a:p>
            <a:fld id="{2107F482-7FF7-4DD4-AE91-ACA70D5B43D5}" type="slidenum">
              <a:rPr lang="es-CL" smtClean="0"/>
              <a:t>9</a:t>
            </a:fld>
            <a:endParaRPr lang="es-CL"/>
          </a:p>
        </p:txBody>
      </p:sp>
    </p:spTree>
    <p:extLst>
      <p:ext uri="{BB962C8B-B14F-4D97-AF65-F5344CB8AC3E}">
        <p14:creationId xmlns:p14="http://schemas.microsoft.com/office/powerpoint/2010/main" val="1379965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8762-2C4F-AC31-6276-1B1CE517944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B19EFC-B952-F4EB-60C3-7E880F63AC3F}"/>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4214C9AF-CC62-FF81-5208-96237DA3E396}"/>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00E7291B-EBD9-1BE0-2F41-7F9805059E72}"/>
              </a:ext>
            </a:extLst>
          </p:cNvPr>
          <p:cNvSpPr>
            <a:spLocks noGrp="1"/>
          </p:cNvSpPr>
          <p:nvPr>
            <p:ph type="sldNum" sz="quarter" idx="5"/>
          </p:nvPr>
        </p:nvSpPr>
        <p:spPr/>
        <p:txBody>
          <a:bodyPr/>
          <a:lstStyle/>
          <a:p>
            <a:fld id="{2107F482-7FF7-4DD4-AE91-ACA70D5B43D5}" type="slidenum">
              <a:rPr lang="es-CL" smtClean="0"/>
              <a:t>10</a:t>
            </a:fld>
            <a:endParaRPr lang="es-CL"/>
          </a:p>
        </p:txBody>
      </p:sp>
    </p:spTree>
    <p:extLst>
      <p:ext uri="{BB962C8B-B14F-4D97-AF65-F5344CB8AC3E}">
        <p14:creationId xmlns:p14="http://schemas.microsoft.com/office/powerpoint/2010/main" val="1691337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B607C-25A6-A790-3FC2-B95CC1A3D29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07BDEBE-C433-63E1-BFA2-6A122D0FBF59}"/>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F86CA809-E444-4665-F193-11C454552E54}"/>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2F52ACF2-A68E-5DD1-9EA6-C9C0AE2FA4F0}"/>
              </a:ext>
            </a:extLst>
          </p:cNvPr>
          <p:cNvSpPr>
            <a:spLocks noGrp="1"/>
          </p:cNvSpPr>
          <p:nvPr>
            <p:ph type="sldNum" sz="quarter" idx="5"/>
          </p:nvPr>
        </p:nvSpPr>
        <p:spPr/>
        <p:txBody>
          <a:bodyPr/>
          <a:lstStyle/>
          <a:p>
            <a:fld id="{2107F482-7FF7-4DD4-AE91-ACA70D5B43D5}" type="slidenum">
              <a:rPr lang="es-CL" smtClean="0"/>
              <a:t>11</a:t>
            </a:fld>
            <a:endParaRPr lang="es-CL"/>
          </a:p>
        </p:txBody>
      </p:sp>
    </p:spTree>
    <p:extLst>
      <p:ext uri="{BB962C8B-B14F-4D97-AF65-F5344CB8AC3E}">
        <p14:creationId xmlns:p14="http://schemas.microsoft.com/office/powerpoint/2010/main" val="22291954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46B91-BA86-19C1-FE9E-626BFB256A7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A42773-A1F0-0F3B-B800-0FB3327566C8}"/>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CF7C50AD-2CA9-B9DA-DE55-D46F62BB8E97}"/>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0E4AA31A-F0A9-A09A-6F69-47B00F372C39}"/>
              </a:ext>
            </a:extLst>
          </p:cNvPr>
          <p:cNvSpPr>
            <a:spLocks noGrp="1"/>
          </p:cNvSpPr>
          <p:nvPr>
            <p:ph type="sldNum" sz="quarter" idx="5"/>
          </p:nvPr>
        </p:nvSpPr>
        <p:spPr/>
        <p:txBody>
          <a:bodyPr/>
          <a:lstStyle/>
          <a:p>
            <a:fld id="{2107F482-7FF7-4DD4-AE91-ACA70D5B43D5}" type="slidenum">
              <a:rPr lang="es-CL" smtClean="0"/>
              <a:t>12</a:t>
            </a:fld>
            <a:endParaRPr lang="es-CL"/>
          </a:p>
        </p:txBody>
      </p:sp>
    </p:spTree>
    <p:extLst>
      <p:ext uri="{BB962C8B-B14F-4D97-AF65-F5344CB8AC3E}">
        <p14:creationId xmlns:p14="http://schemas.microsoft.com/office/powerpoint/2010/main" val="2425872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1B11F-5B92-3421-5C7D-F9A7E906CF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C567AAB-DF95-73EB-C038-65525A6158F8}"/>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19C18463-87B4-CF6B-79C1-FAEB57695E3C}"/>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2DE4A2DB-6D88-E021-731E-BA2E5CA354BB}"/>
              </a:ext>
            </a:extLst>
          </p:cNvPr>
          <p:cNvSpPr>
            <a:spLocks noGrp="1"/>
          </p:cNvSpPr>
          <p:nvPr>
            <p:ph type="sldNum" sz="quarter" idx="5"/>
          </p:nvPr>
        </p:nvSpPr>
        <p:spPr/>
        <p:txBody>
          <a:bodyPr/>
          <a:lstStyle/>
          <a:p>
            <a:fld id="{2107F482-7FF7-4DD4-AE91-ACA70D5B43D5}" type="slidenum">
              <a:rPr lang="es-CL" smtClean="0"/>
              <a:t>13</a:t>
            </a:fld>
            <a:endParaRPr lang="es-CL"/>
          </a:p>
        </p:txBody>
      </p:sp>
    </p:spTree>
    <p:extLst>
      <p:ext uri="{BB962C8B-B14F-4D97-AF65-F5344CB8AC3E}">
        <p14:creationId xmlns:p14="http://schemas.microsoft.com/office/powerpoint/2010/main" val="320578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D1CEB3-5675-98F6-5555-EE13E992A56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F07ADF84-13F9-5B39-43F1-14E7D8EA08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49FA3DF8-0758-BF8A-9304-ECC31709A5D7}"/>
              </a:ext>
            </a:extLst>
          </p:cNvPr>
          <p:cNvSpPr>
            <a:spLocks noGrp="1"/>
          </p:cNvSpPr>
          <p:nvPr>
            <p:ph type="dt" sz="half" idx="10"/>
          </p:nvPr>
        </p:nvSpPr>
        <p:spPr/>
        <p:txBody>
          <a:bodyPr/>
          <a:lstStyle/>
          <a:p>
            <a:fld id="{E8BDA46D-A1A7-4D05-A86A-5A57D57622A5}" type="datetimeFigureOut">
              <a:rPr lang="es-CL" smtClean="0"/>
              <a:t>14-04-2026</a:t>
            </a:fld>
            <a:endParaRPr lang="es-CL"/>
          </a:p>
        </p:txBody>
      </p:sp>
      <p:sp>
        <p:nvSpPr>
          <p:cNvPr id="5" name="Marcador de pie de página 4">
            <a:extLst>
              <a:ext uri="{FF2B5EF4-FFF2-40B4-BE49-F238E27FC236}">
                <a16:creationId xmlns:a16="http://schemas.microsoft.com/office/drawing/2014/main" id="{E7A8AD70-F127-7BA6-5921-BCF78459803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5809D2E-C8C8-DAE5-342D-7ACCCAC6D7F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4042806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2BA7-F473-4377-62A9-34C365181649}"/>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2876B6C-F6ED-E8B4-6256-B671D382415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E376944-86DF-A06F-F26C-EEAE33302DCB}"/>
              </a:ext>
            </a:extLst>
          </p:cNvPr>
          <p:cNvSpPr>
            <a:spLocks noGrp="1"/>
          </p:cNvSpPr>
          <p:nvPr>
            <p:ph type="dt" sz="half" idx="10"/>
          </p:nvPr>
        </p:nvSpPr>
        <p:spPr/>
        <p:txBody>
          <a:bodyPr/>
          <a:lstStyle/>
          <a:p>
            <a:fld id="{E8BDA46D-A1A7-4D05-A86A-5A57D57622A5}" type="datetimeFigureOut">
              <a:rPr lang="es-CL" smtClean="0"/>
              <a:t>14-04-2026</a:t>
            </a:fld>
            <a:endParaRPr lang="es-CL"/>
          </a:p>
        </p:txBody>
      </p:sp>
      <p:sp>
        <p:nvSpPr>
          <p:cNvPr id="5" name="Marcador de pie de página 4">
            <a:extLst>
              <a:ext uri="{FF2B5EF4-FFF2-40B4-BE49-F238E27FC236}">
                <a16:creationId xmlns:a16="http://schemas.microsoft.com/office/drawing/2014/main" id="{8842D504-2579-A803-D017-38F414D8F92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B44F6F1-3475-DF5A-171D-90C0A6361F33}"/>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71958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9EE0DC-FE41-207B-B5D4-12044E8D9BC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265E523B-DBFD-D95C-BDA2-AF438B18FA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00A689A-2C60-C5ED-1F57-27748FB82FCF}"/>
              </a:ext>
            </a:extLst>
          </p:cNvPr>
          <p:cNvSpPr>
            <a:spLocks noGrp="1"/>
          </p:cNvSpPr>
          <p:nvPr>
            <p:ph type="dt" sz="half" idx="10"/>
          </p:nvPr>
        </p:nvSpPr>
        <p:spPr/>
        <p:txBody>
          <a:bodyPr/>
          <a:lstStyle/>
          <a:p>
            <a:fld id="{E8BDA46D-A1A7-4D05-A86A-5A57D57622A5}" type="datetimeFigureOut">
              <a:rPr lang="es-CL" smtClean="0"/>
              <a:t>14-04-2026</a:t>
            </a:fld>
            <a:endParaRPr lang="es-CL"/>
          </a:p>
        </p:txBody>
      </p:sp>
      <p:sp>
        <p:nvSpPr>
          <p:cNvPr id="5" name="Marcador de pie de página 4">
            <a:extLst>
              <a:ext uri="{FF2B5EF4-FFF2-40B4-BE49-F238E27FC236}">
                <a16:creationId xmlns:a16="http://schemas.microsoft.com/office/drawing/2014/main" id="{18E6A1D8-E528-4BB5-3D0E-DD599C20DD1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22BCB4D-49C6-4998-F409-6029A291DE8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040702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31A91A-3147-1537-3F76-79772FA4154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3C01651-05BC-1EC6-A58E-575D048EC2F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55082018-B822-A183-DA4B-1C3D16A49C4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6F26C75-9BEB-D6DB-5431-6309AC889347}"/>
              </a:ext>
            </a:extLst>
          </p:cNvPr>
          <p:cNvSpPr>
            <a:spLocks noGrp="1"/>
          </p:cNvSpPr>
          <p:nvPr>
            <p:ph type="dt" sz="half" idx="10"/>
          </p:nvPr>
        </p:nvSpPr>
        <p:spPr/>
        <p:txBody>
          <a:bodyPr/>
          <a:lstStyle/>
          <a:p>
            <a:fld id="{E8BDA46D-A1A7-4D05-A86A-5A57D57622A5}" type="datetimeFigureOut">
              <a:rPr lang="es-CL" smtClean="0"/>
              <a:t>14-04-2026</a:t>
            </a:fld>
            <a:endParaRPr lang="es-CL"/>
          </a:p>
        </p:txBody>
      </p:sp>
      <p:sp>
        <p:nvSpPr>
          <p:cNvPr id="6" name="Marcador de pie de página 5">
            <a:extLst>
              <a:ext uri="{FF2B5EF4-FFF2-40B4-BE49-F238E27FC236}">
                <a16:creationId xmlns:a16="http://schemas.microsoft.com/office/drawing/2014/main" id="{D071B78F-8C40-BEB7-3CA1-D48366C1C4D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7D4D4F6-B884-C893-0AE7-0BD236FC0A3F}"/>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196884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28DA5D-9DAA-85F9-8663-3F4CFE4F13B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6CA55E1-B5F5-EAF9-B7FE-D45D79747C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C121A24-CF2D-161C-0F6E-E25010C9830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20F6704-DF9F-D96E-863C-22E02CAD62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08E114D-20FF-505F-3AC7-DFA59AC8F45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321214F7-5555-5155-7348-E210F99F0EF8}"/>
              </a:ext>
            </a:extLst>
          </p:cNvPr>
          <p:cNvSpPr>
            <a:spLocks noGrp="1"/>
          </p:cNvSpPr>
          <p:nvPr>
            <p:ph type="dt" sz="half" idx="10"/>
          </p:nvPr>
        </p:nvSpPr>
        <p:spPr/>
        <p:txBody>
          <a:bodyPr/>
          <a:lstStyle/>
          <a:p>
            <a:fld id="{E8BDA46D-A1A7-4D05-A86A-5A57D57622A5}" type="datetimeFigureOut">
              <a:rPr lang="es-CL" smtClean="0"/>
              <a:t>14-04-2026</a:t>
            </a:fld>
            <a:endParaRPr lang="es-CL"/>
          </a:p>
        </p:txBody>
      </p:sp>
      <p:sp>
        <p:nvSpPr>
          <p:cNvPr id="8" name="Marcador de pie de página 7">
            <a:extLst>
              <a:ext uri="{FF2B5EF4-FFF2-40B4-BE49-F238E27FC236}">
                <a16:creationId xmlns:a16="http://schemas.microsoft.com/office/drawing/2014/main" id="{C2C5D59F-5FAC-9631-CDC3-84D27C41472A}"/>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321995D8-D632-D10E-8AFF-26E5C8098BB9}"/>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71272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B870B8-34B8-37DC-89DB-47FC09CC5D8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BB0F1EB3-E9A9-3C8D-7E75-A95C59BF31B0}"/>
              </a:ext>
            </a:extLst>
          </p:cNvPr>
          <p:cNvSpPr>
            <a:spLocks noGrp="1"/>
          </p:cNvSpPr>
          <p:nvPr>
            <p:ph type="dt" sz="half" idx="10"/>
          </p:nvPr>
        </p:nvSpPr>
        <p:spPr/>
        <p:txBody>
          <a:bodyPr/>
          <a:lstStyle/>
          <a:p>
            <a:fld id="{E8BDA46D-A1A7-4D05-A86A-5A57D57622A5}" type="datetimeFigureOut">
              <a:rPr lang="es-CL" smtClean="0"/>
              <a:t>14-04-2026</a:t>
            </a:fld>
            <a:endParaRPr lang="es-CL"/>
          </a:p>
        </p:txBody>
      </p:sp>
      <p:sp>
        <p:nvSpPr>
          <p:cNvPr id="4" name="Marcador de pie de página 3">
            <a:extLst>
              <a:ext uri="{FF2B5EF4-FFF2-40B4-BE49-F238E27FC236}">
                <a16:creationId xmlns:a16="http://schemas.microsoft.com/office/drawing/2014/main" id="{6337F6A3-CB35-F37A-A6DA-88C9FF448CC1}"/>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3C4C9290-251F-B1E0-AEAA-710A3CB53E84}"/>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971229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81B6F75-8539-FB15-F03B-E2523D1BB972}"/>
              </a:ext>
            </a:extLst>
          </p:cNvPr>
          <p:cNvSpPr>
            <a:spLocks noGrp="1"/>
          </p:cNvSpPr>
          <p:nvPr>
            <p:ph type="dt" sz="half" idx="10"/>
          </p:nvPr>
        </p:nvSpPr>
        <p:spPr/>
        <p:txBody>
          <a:bodyPr/>
          <a:lstStyle/>
          <a:p>
            <a:fld id="{E8BDA46D-A1A7-4D05-A86A-5A57D57622A5}" type="datetimeFigureOut">
              <a:rPr lang="es-CL" smtClean="0"/>
              <a:t>14-04-2026</a:t>
            </a:fld>
            <a:endParaRPr lang="es-CL"/>
          </a:p>
        </p:txBody>
      </p:sp>
      <p:sp>
        <p:nvSpPr>
          <p:cNvPr id="3" name="Marcador de pie de página 2">
            <a:extLst>
              <a:ext uri="{FF2B5EF4-FFF2-40B4-BE49-F238E27FC236}">
                <a16:creationId xmlns:a16="http://schemas.microsoft.com/office/drawing/2014/main" id="{F8725444-0A64-F2BF-CE6D-C96D6C237478}"/>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B1A95120-3AD7-2633-1852-99868A08E105}"/>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9157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D67FF6-55E8-496C-BCC4-4D7B40336D7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28B327-F8C2-0B0D-FCA9-41E590A062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C374743E-45A5-85D0-4052-5B42C3C077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7AA9CE0-4EF9-BCF9-74C2-CFE7CCCA4E61}"/>
              </a:ext>
            </a:extLst>
          </p:cNvPr>
          <p:cNvSpPr>
            <a:spLocks noGrp="1"/>
          </p:cNvSpPr>
          <p:nvPr>
            <p:ph type="dt" sz="half" idx="10"/>
          </p:nvPr>
        </p:nvSpPr>
        <p:spPr/>
        <p:txBody>
          <a:bodyPr/>
          <a:lstStyle/>
          <a:p>
            <a:fld id="{E8BDA46D-A1A7-4D05-A86A-5A57D57622A5}" type="datetimeFigureOut">
              <a:rPr lang="es-CL" smtClean="0"/>
              <a:t>14-04-2026</a:t>
            </a:fld>
            <a:endParaRPr lang="es-CL"/>
          </a:p>
        </p:txBody>
      </p:sp>
      <p:sp>
        <p:nvSpPr>
          <p:cNvPr id="6" name="Marcador de pie de página 5">
            <a:extLst>
              <a:ext uri="{FF2B5EF4-FFF2-40B4-BE49-F238E27FC236}">
                <a16:creationId xmlns:a16="http://schemas.microsoft.com/office/drawing/2014/main" id="{31A8C77C-C8E9-8F00-1622-EC17987D85C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FBA34C7-982A-2E74-0F17-C8063BB65B0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9446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31788-80C1-18AA-49B2-00AA49AE72C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B19EDF4D-E446-21A3-5193-EA3AA3FD2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C22F1C9E-17FA-6C7E-F214-0530F189A4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81A0B5E-955F-3A5F-84DE-EE873021AD65}"/>
              </a:ext>
            </a:extLst>
          </p:cNvPr>
          <p:cNvSpPr>
            <a:spLocks noGrp="1"/>
          </p:cNvSpPr>
          <p:nvPr>
            <p:ph type="dt" sz="half" idx="10"/>
          </p:nvPr>
        </p:nvSpPr>
        <p:spPr/>
        <p:txBody>
          <a:bodyPr/>
          <a:lstStyle/>
          <a:p>
            <a:fld id="{E8BDA46D-A1A7-4D05-A86A-5A57D57622A5}" type="datetimeFigureOut">
              <a:rPr lang="es-CL" smtClean="0"/>
              <a:t>14-04-2026</a:t>
            </a:fld>
            <a:endParaRPr lang="es-CL"/>
          </a:p>
        </p:txBody>
      </p:sp>
      <p:sp>
        <p:nvSpPr>
          <p:cNvPr id="6" name="Marcador de pie de página 5">
            <a:extLst>
              <a:ext uri="{FF2B5EF4-FFF2-40B4-BE49-F238E27FC236}">
                <a16:creationId xmlns:a16="http://schemas.microsoft.com/office/drawing/2014/main" id="{82FDB288-42E2-730F-3EC2-75CDD0F07093}"/>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459CA278-6D6E-B2A8-B1E4-9F7DA302E9D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831643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856C15-EF0C-C8A8-41F6-840E0E4336C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A36D5AC-B824-2DA4-A083-1EEB7768DEA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920E341-3C14-25A1-76F8-8BC7FE23FF28}"/>
              </a:ext>
            </a:extLst>
          </p:cNvPr>
          <p:cNvSpPr>
            <a:spLocks noGrp="1"/>
          </p:cNvSpPr>
          <p:nvPr>
            <p:ph type="dt" sz="half" idx="10"/>
          </p:nvPr>
        </p:nvSpPr>
        <p:spPr/>
        <p:txBody>
          <a:bodyPr/>
          <a:lstStyle/>
          <a:p>
            <a:fld id="{E8BDA46D-A1A7-4D05-A86A-5A57D57622A5}" type="datetimeFigureOut">
              <a:rPr lang="es-CL" smtClean="0"/>
              <a:t>14-04-2026</a:t>
            </a:fld>
            <a:endParaRPr lang="es-CL"/>
          </a:p>
        </p:txBody>
      </p:sp>
      <p:sp>
        <p:nvSpPr>
          <p:cNvPr id="5" name="Marcador de pie de página 4">
            <a:extLst>
              <a:ext uri="{FF2B5EF4-FFF2-40B4-BE49-F238E27FC236}">
                <a16:creationId xmlns:a16="http://schemas.microsoft.com/office/drawing/2014/main" id="{CEC9B56E-2B7B-8C60-811D-12FE70B468E9}"/>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650FC0E-77B0-E187-7241-8BE9332FF16D}"/>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202914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00424F-3FDF-9896-F8DF-EBF93BEF4D4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8350F60B-440F-292F-888A-8EF62AA412C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14116BF-3104-AF5D-C0A8-E063AF706A11}"/>
              </a:ext>
            </a:extLst>
          </p:cNvPr>
          <p:cNvSpPr>
            <a:spLocks noGrp="1"/>
          </p:cNvSpPr>
          <p:nvPr>
            <p:ph type="dt" sz="half" idx="10"/>
          </p:nvPr>
        </p:nvSpPr>
        <p:spPr/>
        <p:txBody>
          <a:bodyPr/>
          <a:lstStyle/>
          <a:p>
            <a:fld id="{E8BDA46D-A1A7-4D05-A86A-5A57D57622A5}" type="datetimeFigureOut">
              <a:rPr lang="es-CL" smtClean="0"/>
              <a:t>14-04-2026</a:t>
            </a:fld>
            <a:endParaRPr lang="es-CL"/>
          </a:p>
        </p:txBody>
      </p:sp>
      <p:sp>
        <p:nvSpPr>
          <p:cNvPr id="5" name="Marcador de pie de página 4">
            <a:extLst>
              <a:ext uri="{FF2B5EF4-FFF2-40B4-BE49-F238E27FC236}">
                <a16:creationId xmlns:a16="http://schemas.microsoft.com/office/drawing/2014/main" id="{2E8F5DAA-9632-8650-11D1-4852CB9F0A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1DD27B8-05BD-48E2-3B7C-2DF3A1DBBD5A}"/>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546732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FE1D736-C504-F2D3-4D26-5C0C6D7897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D32A4F1-8C91-29BD-B83A-D5ED13E399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7C91089-CE03-9300-C918-89BA1B7A9A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BDA46D-A1A7-4D05-A86A-5A57D57622A5}" type="datetimeFigureOut">
              <a:rPr lang="es-CL" smtClean="0"/>
              <a:t>14-04-2026</a:t>
            </a:fld>
            <a:endParaRPr lang="es-CL"/>
          </a:p>
        </p:txBody>
      </p:sp>
      <p:sp>
        <p:nvSpPr>
          <p:cNvPr id="5" name="Marcador de pie de página 4">
            <a:extLst>
              <a:ext uri="{FF2B5EF4-FFF2-40B4-BE49-F238E27FC236}">
                <a16:creationId xmlns:a16="http://schemas.microsoft.com/office/drawing/2014/main" id="{FEE5FFC7-CC22-AA3D-8561-D011B9400C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462EE7A9-3E52-92C2-1A3E-C180FB6A61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02DCD1-67CD-4B9C-AF7C-A4846B367CA8}" type="slidenum">
              <a:rPr lang="es-CL" smtClean="0"/>
              <a:t>‹Nº›</a:t>
            </a:fld>
            <a:endParaRPr lang="es-CL"/>
          </a:p>
        </p:txBody>
      </p:sp>
    </p:spTree>
    <p:extLst>
      <p:ext uri="{BB962C8B-B14F-4D97-AF65-F5344CB8AC3E}">
        <p14:creationId xmlns:p14="http://schemas.microsoft.com/office/powerpoint/2010/main" val="2365602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4C5055-DE28-A84E-9FB5-12A3C43AF46E}"/>
              </a:ext>
            </a:extLst>
          </p:cNvPr>
          <p:cNvSpPr>
            <a:spLocks noGrp="1"/>
          </p:cNvSpPr>
          <p:nvPr>
            <p:ph type="ctrTitle"/>
          </p:nvPr>
        </p:nvSpPr>
        <p:spPr>
          <a:xfrm>
            <a:off x="1524000" y="1569403"/>
            <a:ext cx="9144000" cy="2387600"/>
          </a:xfrm>
        </p:spPr>
        <p:txBody>
          <a:bodyPr/>
          <a:lstStyle/>
          <a:p>
            <a:r>
              <a:rPr lang="es-MX" i="1" dirty="0"/>
              <a:t>Ingeniería de soluciones con AI</a:t>
            </a:r>
            <a:endParaRPr lang="es-CL" i="1" dirty="0"/>
          </a:p>
        </p:txBody>
      </p:sp>
      <p:sp>
        <p:nvSpPr>
          <p:cNvPr id="3" name="Subtítulo 2">
            <a:extLst>
              <a:ext uri="{FF2B5EF4-FFF2-40B4-BE49-F238E27FC236}">
                <a16:creationId xmlns:a16="http://schemas.microsoft.com/office/drawing/2014/main" id="{9C898086-6830-28E7-5F70-A1C13B3A9DBB}"/>
              </a:ext>
            </a:extLst>
          </p:cNvPr>
          <p:cNvSpPr>
            <a:spLocks noGrp="1"/>
          </p:cNvSpPr>
          <p:nvPr>
            <p:ph type="subTitle" idx="1"/>
          </p:nvPr>
        </p:nvSpPr>
        <p:spPr>
          <a:xfrm>
            <a:off x="9763760" y="5788758"/>
            <a:ext cx="2585194" cy="675639"/>
          </a:xfrm>
        </p:spPr>
        <p:txBody>
          <a:bodyPr>
            <a:normAutofit lnSpcReduction="10000"/>
          </a:bodyPr>
          <a:lstStyle/>
          <a:p>
            <a:pPr algn="l"/>
            <a:r>
              <a:rPr lang="es-MX" sz="1800" b="1" i="1" dirty="0"/>
              <a:t>Docente:</a:t>
            </a:r>
          </a:p>
          <a:p>
            <a:pPr algn="l"/>
            <a:r>
              <a:rPr lang="es-MX" sz="1800" i="1" dirty="0"/>
              <a:t>Francisco Macaya</a:t>
            </a:r>
            <a:endParaRPr lang="es-CL" sz="1800" i="1" dirty="0"/>
          </a:p>
        </p:txBody>
      </p:sp>
      <p:pic>
        <p:nvPicPr>
          <p:cNvPr id="1026" name="Picture 2" descr="Duoc UC - Learn Chile">
            <a:extLst>
              <a:ext uri="{FF2B5EF4-FFF2-40B4-BE49-F238E27FC236}">
                <a16:creationId xmlns:a16="http://schemas.microsoft.com/office/drawing/2014/main" id="{EFAFD388-37C4-B6E5-0BD9-719436329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4" name="Subtítulo 2">
            <a:extLst>
              <a:ext uri="{FF2B5EF4-FFF2-40B4-BE49-F238E27FC236}">
                <a16:creationId xmlns:a16="http://schemas.microsoft.com/office/drawing/2014/main" id="{289FDFC1-9135-D283-EA5A-9264421DCA54}"/>
              </a:ext>
            </a:extLst>
          </p:cNvPr>
          <p:cNvSpPr txBox="1">
            <a:spLocks/>
          </p:cNvSpPr>
          <p:nvPr/>
        </p:nvSpPr>
        <p:spPr>
          <a:xfrm>
            <a:off x="5345302" y="5971981"/>
            <a:ext cx="2585194" cy="6756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MX" sz="1800" i="1" dirty="0"/>
              <a:t>Semestre 2026-1</a:t>
            </a:r>
            <a:endParaRPr lang="es-CL" sz="1800" i="1" dirty="0"/>
          </a:p>
        </p:txBody>
      </p:sp>
    </p:spTree>
    <p:extLst>
      <p:ext uri="{BB962C8B-B14F-4D97-AF65-F5344CB8AC3E}">
        <p14:creationId xmlns:p14="http://schemas.microsoft.com/office/powerpoint/2010/main" val="2817793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B41D0E-5E44-651B-82FF-0DBD9F25EEEE}"/>
              </a:ext>
            </a:extLst>
          </p:cNvPr>
          <p:cNvSpPr>
            <a:spLocks noGrp="1"/>
          </p:cNvSpPr>
          <p:nvPr>
            <p:ph type="title"/>
          </p:nvPr>
        </p:nvSpPr>
        <p:spPr>
          <a:xfrm>
            <a:off x="7086600" y="1936722"/>
            <a:ext cx="4373880" cy="2311428"/>
          </a:xfrm>
        </p:spPr>
        <p:txBody>
          <a:bodyPr>
            <a:normAutofit fontScale="90000"/>
          </a:bodyPr>
          <a:lstStyle/>
          <a:p>
            <a:r>
              <a:rPr lang="es-MX" sz="3600" b="1" i="1" dirty="0"/>
              <a:t>Noticias:</a:t>
            </a:r>
            <a:br>
              <a:rPr lang="es-MX" i="1" dirty="0"/>
            </a:br>
            <a:r>
              <a:rPr lang="es-MX" sz="3100" i="1" dirty="0"/>
              <a:t>Capacidades, limitaciones y evaluaciones de seguridad de un nuevo modelo llamado </a:t>
            </a:r>
            <a:r>
              <a:rPr lang="es-MX" sz="3100" b="1" i="1" dirty="0"/>
              <a:t>Claude </a:t>
            </a:r>
            <a:r>
              <a:rPr lang="es-MX" sz="3100" b="1" i="1" dirty="0" err="1"/>
              <a:t>Mythos</a:t>
            </a:r>
            <a:r>
              <a:rPr lang="es-MX" sz="3100" i="1" dirty="0"/>
              <a:t>.</a:t>
            </a:r>
            <a:endParaRPr lang="es-CL" i="1" dirty="0"/>
          </a:p>
        </p:txBody>
      </p:sp>
      <p:pic>
        <p:nvPicPr>
          <p:cNvPr id="4" name="Picture 2" descr="Duoc UC - Learn Chile">
            <a:extLst>
              <a:ext uri="{FF2B5EF4-FFF2-40B4-BE49-F238E27FC236}">
                <a16:creationId xmlns:a16="http://schemas.microsoft.com/office/drawing/2014/main" id="{23B967C9-D6BF-8DB2-90D0-DCD6085A05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9A58C3FE-B6AF-3F8A-5EF1-66F42AFB529D}"/>
              </a:ext>
            </a:extLst>
          </p:cNvPr>
          <p:cNvSpPr txBox="1">
            <a:spLocks/>
          </p:cNvSpPr>
          <p:nvPr/>
        </p:nvSpPr>
        <p:spPr>
          <a:xfrm>
            <a:off x="172226" y="6286241"/>
            <a:ext cx="754937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MX" sz="1600" i="1" dirty="0"/>
              <a:t>https://www-cdn.anthropic.com/08ab9158070959f88f296514c21b7facce6f52bc.pdf</a:t>
            </a:r>
            <a:endParaRPr lang="es-CL" sz="1600" i="1" dirty="0"/>
          </a:p>
        </p:txBody>
      </p:sp>
      <p:pic>
        <p:nvPicPr>
          <p:cNvPr id="7" name="Imagen 6">
            <a:extLst>
              <a:ext uri="{FF2B5EF4-FFF2-40B4-BE49-F238E27FC236}">
                <a16:creationId xmlns:a16="http://schemas.microsoft.com/office/drawing/2014/main" id="{D98C382E-5B53-3294-F4DE-BDEA6880426A}"/>
              </a:ext>
            </a:extLst>
          </p:cNvPr>
          <p:cNvPicPr>
            <a:picLocks noChangeAspect="1"/>
          </p:cNvPicPr>
          <p:nvPr/>
        </p:nvPicPr>
        <p:blipFill>
          <a:blip r:embed="rId3"/>
          <a:stretch>
            <a:fillRect/>
          </a:stretch>
        </p:blipFill>
        <p:spPr>
          <a:xfrm>
            <a:off x="1482771" y="30480"/>
            <a:ext cx="4928284" cy="6131316"/>
          </a:xfrm>
          <a:prstGeom prst="rect">
            <a:avLst/>
          </a:prstGeom>
        </p:spPr>
      </p:pic>
    </p:spTree>
    <p:extLst>
      <p:ext uri="{BB962C8B-B14F-4D97-AF65-F5344CB8AC3E}">
        <p14:creationId xmlns:p14="http://schemas.microsoft.com/office/powerpoint/2010/main" val="1734909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91BF0-E2F9-34FA-7A0F-0C7B3857CCA1}"/>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0777F897-719B-7D9F-4FFF-0B218F781B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0490BC28-B51F-37B1-27B9-4213CA8141E4}"/>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2D4A6A0F-EF7D-E949-EAFC-621DB189CA08}"/>
              </a:ext>
            </a:extLst>
          </p:cNvPr>
          <p:cNvSpPr>
            <a:spLocks noGrp="1"/>
          </p:cNvSpPr>
          <p:nvPr>
            <p:ph type="title"/>
          </p:nvPr>
        </p:nvSpPr>
        <p:spPr>
          <a:xfrm>
            <a:off x="3662680" y="2103437"/>
            <a:ext cx="10515600" cy="1325563"/>
          </a:xfrm>
        </p:spPr>
        <p:txBody>
          <a:bodyPr/>
          <a:lstStyle/>
          <a:p>
            <a:r>
              <a:rPr lang="es-MX" b="1" i="1" dirty="0"/>
              <a:t>¿Qué es la memoria?</a:t>
            </a:r>
            <a:endParaRPr lang="es-CL" b="1" dirty="0"/>
          </a:p>
        </p:txBody>
      </p:sp>
      <p:sp>
        <p:nvSpPr>
          <p:cNvPr id="32" name="Título 1">
            <a:extLst>
              <a:ext uri="{FF2B5EF4-FFF2-40B4-BE49-F238E27FC236}">
                <a16:creationId xmlns:a16="http://schemas.microsoft.com/office/drawing/2014/main" id="{77D20C6C-258F-331F-29DD-43DB584CE740}"/>
              </a:ext>
            </a:extLst>
          </p:cNvPr>
          <p:cNvSpPr txBox="1">
            <a:spLocks/>
          </p:cNvSpPr>
          <p:nvPr/>
        </p:nvSpPr>
        <p:spPr>
          <a:xfrm>
            <a:off x="596403" y="3091010"/>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a:t>
            </a:r>
            <a:r>
              <a:rPr lang="es-MX" sz="3600" i="1" dirty="0"/>
              <a:t>Lo que te hace tú no es tu cuerpo — sino que recuerdas haber sido tú antes</a:t>
            </a:r>
            <a:r>
              <a:rPr lang="en-US" sz="3600" i="1" dirty="0"/>
              <a:t>.”</a:t>
            </a:r>
            <a:endParaRPr lang="es-MX" sz="2400" i="1" dirty="0"/>
          </a:p>
        </p:txBody>
      </p:sp>
      <p:sp>
        <p:nvSpPr>
          <p:cNvPr id="6" name="CuadroTexto 5">
            <a:extLst>
              <a:ext uri="{FF2B5EF4-FFF2-40B4-BE49-F238E27FC236}">
                <a16:creationId xmlns:a16="http://schemas.microsoft.com/office/drawing/2014/main" id="{81FC75A8-FFFD-6CCB-AAA9-1FE98598AF2C}"/>
              </a:ext>
            </a:extLst>
          </p:cNvPr>
          <p:cNvSpPr txBox="1"/>
          <p:nvPr/>
        </p:nvSpPr>
        <p:spPr>
          <a:xfrm>
            <a:off x="4942840" y="4491889"/>
            <a:ext cx="7650480" cy="369332"/>
          </a:xfrm>
          <a:prstGeom prst="rect">
            <a:avLst/>
          </a:prstGeom>
          <a:noFill/>
        </p:spPr>
        <p:txBody>
          <a:bodyPr wrap="square">
            <a:spAutoFit/>
          </a:bodyPr>
          <a:lstStyle/>
          <a:p>
            <a:r>
              <a:rPr lang="es-CL" i="1" dirty="0"/>
              <a:t>John Locke (1689)</a:t>
            </a:r>
          </a:p>
        </p:txBody>
      </p:sp>
    </p:spTree>
    <p:extLst>
      <p:ext uri="{BB962C8B-B14F-4D97-AF65-F5344CB8AC3E}">
        <p14:creationId xmlns:p14="http://schemas.microsoft.com/office/powerpoint/2010/main" val="2509128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62DBE-8C83-5A30-B8CA-690836A765EC}"/>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E8E0C0F8-3F16-44B7-AD9F-9FF260F616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E22137F2-690A-E9D4-B201-5BBA25349413}"/>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7496C2E4-0543-6F1B-2F23-793C6252711A}"/>
              </a:ext>
            </a:extLst>
          </p:cNvPr>
          <p:cNvSpPr txBox="1">
            <a:spLocks/>
          </p:cNvSpPr>
          <p:nvPr/>
        </p:nvSpPr>
        <p:spPr>
          <a:xfrm>
            <a:off x="431580" y="957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dirty="0"/>
              <a:t>Memoria : </a:t>
            </a:r>
            <a:r>
              <a:rPr lang="es-MX" i="1" dirty="0"/>
              <a:t>Tipos de memoria en el humano</a:t>
            </a:r>
            <a:r>
              <a:rPr lang="es-MX" dirty="0"/>
              <a:t>.</a:t>
            </a:r>
            <a:endParaRPr lang="es-CL" dirty="0"/>
          </a:p>
        </p:txBody>
      </p:sp>
      <p:pic>
        <p:nvPicPr>
          <p:cNvPr id="5122" name="Picture 2" descr="Qué tipos de memoria tenemos? - Centro Neuronea">
            <a:extLst>
              <a:ext uri="{FF2B5EF4-FFF2-40B4-BE49-F238E27FC236}">
                <a16:creationId xmlns:a16="http://schemas.microsoft.com/office/drawing/2014/main" id="{553E7CDF-6851-1202-CE04-65BC436DE1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2760" y="1462345"/>
            <a:ext cx="5386696" cy="459112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gen que hace tan especial al cerebro humano">
            <a:extLst>
              <a:ext uri="{FF2B5EF4-FFF2-40B4-BE49-F238E27FC236}">
                <a16:creationId xmlns:a16="http://schemas.microsoft.com/office/drawing/2014/main" id="{693B0C3A-F51E-EDD7-CF22-F6F4D78B0C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7357" y="2907635"/>
            <a:ext cx="2466975" cy="1847850"/>
          </a:xfrm>
          <a:prstGeom prst="rect">
            <a:avLst/>
          </a:prstGeom>
          <a:noFill/>
          <a:extLst>
            <a:ext uri="{909E8E84-426E-40DD-AFC4-6F175D3DCCD1}">
              <a14:hiddenFill xmlns:a14="http://schemas.microsoft.com/office/drawing/2010/main">
                <a:solidFill>
                  <a:srgbClr val="FFFFFF"/>
                </a:solidFill>
              </a14:hiddenFill>
            </a:ext>
          </a:extLst>
        </p:spPr>
      </p:pic>
      <p:sp>
        <p:nvSpPr>
          <p:cNvPr id="9" name="Título 1">
            <a:extLst>
              <a:ext uri="{FF2B5EF4-FFF2-40B4-BE49-F238E27FC236}">
                <a16:creationId xmlns:a16="http://schemas.microsoft.com/office/drawing/2014/main" id="{611A31C0-1474-F821-45F0-E1C9E3CE98F0}"/>
              </a:ext>
            </a:extLst>
          </p:cNvPr>
          <p:cNvSpPr txBox="1">
            <a:spLocks/>
          </p:cNvSpPr>
          <p:nvPr/>
        </p:nvSpPr>
        <p:spPr>
          <a:xfrm>
            <a:off x="8170535" y="3249774"/>
            <a:ext cx="3940185" cy="28036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s-MX" i="1" dirty="0"/>
          </a:p>
        </p:txBody>
      </p:sp>
    </p:spTree>
    <p:extLst>
      <p:ext uri="{BB962C8B-B14F-4D97-AF65-F5344CB8AC3E}">
        <p14:creationId xmlns:p14="http://schemas.microsoft.com/office/powerpoint/2010/main" val="3530158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B9C98-5AEE-DFB6-B877-EB43CA6C4C5D}"/>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0A8DD9EC-FFC5-6E67-4F5E-B0247FBFA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83488850-4930-312D-CDD0-722130F04B61}"/>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72693A6E-5294-4D5D-3D32-19DD152E34D7}"/>
              </a:ext>
            </a:extLst>
          </p:cNvPr>
          <p:cNvSpPr txBox="1">
            <a:spLocks/>
          </p:cNvSpPr>
          <p:nvPr/>
        </p:nvSpPr>
        <p:spPr>
          <a:xfrm>
            <a:off x="431580" y="957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dirty="0"/>
              <a:t>Memoria : </a:t>
            </a:r>
            <a:r>
              <a:rPr lang="es-MX" i="1" dirty="0"/>
              <a:t>Tipo de memoria en los agentes</a:t>
            </a:r>
            <a:r>
              <a:rPr lang="es-MX" dirty="0"/>
              <a:t>.</a:t>
            </a:r>
            <a:endParaRPr lang="es-CL" dirty="0"/>
          </a:p>
        </p:txBody>
      </p:sp>
      <p:sp>
        <p:nvSpPr>
          <p:cNvPr id="9" name="Título 1">
            <a:extLst>
              <a:ext uri="{FF2B5EF4-FFF2-40B4-BE49-F238E27FC236}">
                <a16:creationId xmlns:a16="http://schemas.microsoft.com/office/drawing/2014/main" id="{F4BF64FD-1AF7-3CD5-C033-93EB0A011018}"/>
              </a:ext>
            </a:extLst>
          </p:cNvPr>
          <p:cNvSpPr txBox="1">
            <a:spLocks/>
          </p:cNvSpPr>
          <p:nvPr/>
        </p:nvSpPr>
        <p:spPr>
          <a:xfrm>
            <a:off x="8170535" y="3249774"/>
            <a:ext cx="3940185" cy="28036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s-MX" i="1" dirty="0"/>
          </a:p>
        </p:txBody>
      </p:sp>
      <p:pic>
        <p:nvPicPr>
          <p:cNvPr id="5" name="Imagen 4">
            <a:extLst>
              <a:ext uri="{FF2B5EF4-FFF2-40B4-BE49-F238E27FC236}">
                <a16:creationId xmlns:a16="http://schemas.microsoft.com/office/drawing/2014/main" id="{D1925D84-5758-A037-56BE-DB8E80B0479B}"/>
              </a:ext>
            </a:extLst>
          </p:cNvPr>
          <p:cNvPicPr>
            <a:picLocks noChangeAspect="1"/>
          </p:cNvPicPr>
          <p:nvPr/>
        </p:nvPicPr>
        <p:blipFill>
          <a:blip r:embed="rId4"/>
          <a:stretch>
            <a:fillRect/>
          </a:stretch>
        </p:blipFill>
        <p:spPr>
          <a:xfrm>
            <a:off x="233275" y="1503456"/>
            <a:ext cx="7243204" cy="4663559"/>
          </a:xfrm>
          <a:prstGeom prst="rect">
            <a:avLst/>
          </a:prstGeom>
        </p:spPr>
      </p:pic>
      <p:sp>
        <p:nvSpPr>
          <p:cNvPr id="6" name="Título 1">
            <a:extLst>
              <a:ext uri="{FF2B5EF4-FFF2-40B4-BE49-F238E27FC236}">
                <a16:creationId xmlns:a16="http://schemas.microsoft.com/office/drawing/2014/main" id="{39591EC2-4BFC-AAC3-5F4E-0D399835B974}"/>
              </a:ext>
            </a:extLst>
          </p:cNvPr>
          <p:cNvSpPr txBox="1">
            <a:spLocks/>
          </p:cNvSpPr>
          <p:nvPr/>
        </p:nvSpPr>
        <p:spPr>
          <a:xfrm>
            <a:off x="7394963" y="1609650"/>
            <a:ext cx="4146837" cy="19940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000" b="1" dirty="0"/>
              <a:t>Short-</a:t>
            </a:r>
            <a:r>
              <a:rPr lang="es-MX" sz="2000" b="1" dirty="0" err="1"/>
              <a:t>term</a:t>
            </a:r>
            <a:r>
              <a:rPr lang="es-MX" sz="2000" b="1" dirty="0"/>
              <a:t> </a:t>
            </a:r>
            <a:r>
              <a:rPr lang="es-MX" sz="2000" b="1" dirty="0" err="1"/>
              <a:t>memory</a:t>
            </a:r>
            <a:r>
              <a:rPr lang="es-MX" sz="2000" b="1" dirty="0"/>
              <a:t>: </a:t>
            </a:r>
            <a:r>
              <a:rPr lang="es-MX" sz="2000" i="1" dirty="0"/>
              <a:t>Es todo lo que el agente puede "ver" y recordar en este momento — su ventana de atención activa.</a:t>
            </a:r>
            <a:endParaRPr lang="es-CL" sz="2000" i="1" dirty="0"/>
          </a:p>
        </p:txBody>
      </p:sp>
      <p:sp>
        <p:nvSpPr>
          <p:cNvPr id="8" name="Título 1">
            <a:extLst>
              <a:ext uri="{FF2B5EF4-FFF2-40B4-BE49-F238E27FC236}">
                <a16:creationId xmlns:a16="http://schemas.microsoft.com/office/drawing/2014/main" id="{91A5D279-3FD8-08FE-BE09-247E36D9AE39}"/>
              </a:ext>
            </a:extLst>
          </p:cNvPr>
          <p:cNvSpPr txBox="1">
            <a:spLocks/>
          </p:cNvSpPr>
          <p:nvPr/>
        </p:nvSpPr>
        <p:spPr>
          <a:xfrm>
            <a:off x="7394963" y="3360460"/>
            <a:ext cx="4146837" cy="19940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000" b="1" dirty="0"/>
              <a:t>Long-</a:t>
            </a:r>
            <a:r>
              <a:rPr lang="es-MX" sz="2000" b="1" dirty="0" err="1"/>
              <a:t>term</a:t>
            </a:r>
            <a:r>
              <a:rPr lang="es-MX" sz="2000" b="1" dirty="0"/>
              <a:t> </a:t>
            </a:r>
            <a:r>
              <a:rPr lang="es-MX" sz="2000" b="1" dirty="0" err="1"/>
              <a:t>memory</a:t>
            </a:r>
            <a:r>
              <a:rPr lang="es-MX" sz="2000" b="1" dirty="0"/>
              <a:t>: </a:t>
            </a:r>
            <a:r>
              <a:rPr lang="es-MX" sz="2000" i="1" dirty="0"/>
              <a:t>Es todo lo que el agente puede recordar más allá de su </a:t>
            </a:r>
            <a:r>
              <a:rPr lang="es-MX" sz="2000" i="1" dirty="0" err="1"/>
              <a:t>context</a:t>
            </a:r>
            <a:r>
              <a:rPr lang="es-MX" sz="2000" i="1" dirty="0"/>
              <a:t> </a:t>
            </a:r>
            <a:r>
              <a:rPr lang="es-MX" sz="2000" i="1" dirty="0" err="1"/>
              <a:t>window</a:t>
            </a:r>
            <a:r>
              <a:rPr lang="es-MX" sz="2000" i="1" dirty="0"/>
              <a:t> — información persistente que sobrevive entre sesiones.</a:t>
            </a:r>
            <a:endParaRPr lang="es-CL" sz="2000" i="1" dirty="0"/>
          </a:p>
        </p:txBody>
      </p:sp>
    </p:spTree>
    <p:extLst>
      <p:ext uri="{BB962C8B-B14F-4D97-AF65-F5344CB8AC3E}">
        <p14:creationId xmlns:p14="http://schemas.microsoft.com/office/powerpoint/2010/main" val="1659792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70E46-2870-2FA1-DA27-EEE6F2126BDB}"/>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F50141B0-4AB3-F21F-FC8C-3DF9314C3A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D3399533-5909-F32C-3D37-E4DC9933DF3A}"/>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1E32C024-679E-5723-1CBD-394673FD5C9B}"/>
              </a:ext>
            </a:extLst>
          </p:cNvPr>
          <p:cNvSpPr txBox="1">
            <a:spLocks/>
          </p:cNvSpPr>
          <p:nvPr/>
        </p:nvSpPr>
        <p:spPr>
          <a:xfrm>
            <a:off x="431580" y="957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dirty="0" err="1"/>
              <a:t>LangChain</a:t>
            </a:r>
            <a:r>
              <a:rPr lang="es-MX" b="1" i="1" dirty="0"/>
              <a:t>: </a:t>
            </a:r>
            <a:r>
              <a:rPr lang="es-MX" i="1" dirty="0"/>
              <a:t>Técnicas avanzadas de memoria.</a:t>
            </a:r>
            <a:endParaRPr lang="es-CL" dirty="0"/>
          </a:p>
        </p:txBody>
      </p:sp>
      <p:sp>
        <p:nvSpPr>
          <p:cNvPr id="9" name="Título 1">
            <a:extLst>
              <a:ext uri="{FF2B5EF4-FFF2-40B4-BE49-F238E27FC236}">
                <a16:creationId xmlns:a16="http://schemas.microsoft.com/office/drawing/2014/main" id="{C5560EC7-F69B-695F-76CC-A6A9BDD83F3E}"/>
              </a:ext>
            </a:extLst>
          </p:cNvPr>
          <p:cNvSpPr txBox="1">
            <a:spLocks/>
          </p:cNvSpPr>
          <p:nvPr/>
        </p:nvSpPr>
        <p:spPr>
          <a:xfrm>
            <a:off x="8170535" y="3249774"/>
            <a:ext cx="3940185" cy="28036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s-MX" i="1" dirty="0"/>
          </a:p>
        </p:txBody>
      </p:sp>
      <p:pic>
        <p:nvPicPr>
          <p:cNvPr id="6" name="Imagen 5">
            <a:extLst>
              <a:ext uri="{FF2B5EF4-FFF2-40B4-BE49-F238E27FC236}">
                <a16:creationId xmlns:a16="http://schemas.microsoft.com/office/drawing/2014/main" id="{59F22D5A-189A-191D-7ECF-E71E7A49AE39}"/>
              </a:ext>
            </a:extLst>
          </p:cNvPr>
          <p:cNvPicPr>
            <a:picLocks noChangeAspect="1"/>
          </p:cNvPicPr>
          <p:nvPr/>
        </p:nvPicPr>
        <p:blipFill>
          <a:blip r:embed="rId4"/>
          <a:stretch>
            <a:fillRect/>
          </a:stretch>
        </p:blipFill>
        <p:spPr>
          <a:xfrm>
            <a:off x="674248" y="1517822"/>
            <a:ext cx="10710153" cy="3133800"/>
          </a:xfrm>
          <a:prstGeom prst="rect">
            <a:avLst/>
          </a:prstGeom>
        </p:spPr>
      </p:pic>
      <p:sp>
        <p:nvSpPr>
          <p:cNvPr id="10" name="CuadroTexto 9">
            <a:extLst>
              <a:ext uri="{FF2B5EF4-FFF2-40B4-BE49-F238E27FC236}">
                <a16:creationId xmlns:a16="http://schemas.microsoft.com/office/drawing/2014/main" id="{A2162066-E863-488D-E370-C1EED084FA59}"/>
              </a:ext>
            </a:extLst>
          </p:cNvPr>
          <p:cNvSpPr txBox="1"/>
          <p:nvPr/>
        </p:nvSpPr>
        <p:spPr>
          <a:xfrm>
            <a:off x="807598" y="4563446"/>
            <a:ext cx="9950847" cy="707886"/>
          </a:xfrm>
          <a:prstGeom prst="rect">
            <a:avLst/>
          </a:prstGeom>
          <a:noFill/>
        </p:spPr>
        <p:txBody>
          <a:bodyPr wrap="square">
            <a:spAutoFit/>
          </a:bodyPr>
          <a:lstStyle/>
          <a:p>
            <a:pPr algn="ctr"/>
            <a:r>
              <a:rPr lang="es-MX" sz="2000" i="1" dirty="0">
                <a:latin typeface="+mj-lt"/>
              </a:rPr>
              <a:t>La memoria también puede clasificarse según el tipo de conocimiento que almacena, tomando como base la ciencia cognitiva. Se distingue la </a:t>
            </a:r>
            <a:r>
              <a:rPr lang="es-MX" sz="2000" b="1" i="1" dirty="0">
                <a:latin typeface="+mj-lt"/>
              </a:rPr>
              <a:t>semántica</a:t>
            </a:r>
            <a:r>
              <a:rPr lang="es-MX" sz="2000" i="1" dirty="0">
                <a:latin typeface="+mj-lt"/>
              </a:rPr>
              <a:t>, </a:t>
            </a:r>
            <a:r>
              <a:rPr lang="es-CL" sz="2000" b="1" i="1" dirty="0">
                <a:latin typeface="+mj-lt"/>
              </a:rPr>
              <a:t>episódica</a:t>
            </a:r>
            <a:r>
              <a:rPr lang="es-CL" sz="2000" i="1" dirty="0">
                <a:latin typeface="+mj-lt"/>
              </a:rPr>
              <a:t> y </a:t>
            </a:r>
            <a:r>
              <a:rPr lang="es-CL" sz="2000" b="1" i="1" dirty="0">
                <a:latin typeface="+mj-lt"/>
              </a:rPr>
              <a:t>procedimental.</a:t>
            </a:r>
            <a:endParaRPr lang="es-CL" sz="2000" i="1" dirty="0">
              <a:latin typeface="+mj-lt"/>
            </a:endParaRPr>
          </a:p>
        </p:txBody>
      </p:sp>
      <p:sp>
        <p:nvSpPr>
          <p:cNvPr id="11" name="Título 1">
            <a:extLst>
              <a:ext uri="{FF2B5EF4-FFF2-40B4-BE49-F238E27FC236}">
                <a16:creationId xmlns:a16="http://schemas.microsoft.com/office/drawing/2014/main" id="{37983B0D-4491-3F65-AA84-FB44A2FE955B}"/>
              </a:ext>
            </a:extLst>
          </p:cNvPr>
          <p:cNvSpPr txBox="1">
            <a:spLocks/>
          </p:cNvSpPr>
          <p:nvPr/>
        </p:nvSpPr>
        <p:spPr>
          <a:xfrm>
            <a:off x="-904099" y="6308112"/>
            <a:ext cx="754937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CL" sz="1600" i="1" dirty="0"/>
              <a:t>https://docs.langchain.com/oss/python/langgraph/memory</a:t>
            </a:r>
          </a:p>
        </p:txBody>
      </p:sp>
    </p:spTree>
    <p:extLst>
      <p:ext uri="{BB962C8B-B14F-4D97-AF65-F5344CB8AC3E}">
        <p14:creationId xmlns:p14="http://schemas.microsoft.com/office/powerpoint/2010/main" val="30452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6A07D-C68E-C02F-9B84-9B3CDDF997A5}"/>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D485DE31-3280-F199-3BAA-A51EB123DF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23E9031-1F0E-0273-49D6-90E16132CA32}"/>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461D06D9-CF9A-CF10-9916-BD7AF522AD44}"/>
              </a:ext>
            </a:extLst>
          </p:cNvPr>
          <p:cNvSpPr txBox="1">
            <a:spLocks/>
          </p:cNvSpPr>
          <p:nvPr/>
        </p:nvSpPr>
        <p:spPr>
          <a:xfrm>
            <a:off x="431580" y="957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dirty="0"/>
              <a:t>Semántica: </a:t>
            </a:r>
            <a:r>
              <a:rPr lang="es-MX" i="1" dirty="0"/>
              <a:t>Tu perfil.</a:t>
            </a:r>
            <a:endParaRPr lang="es-CL" i="1" dirty="0"/>
          </a:p>
        </p:txBody>
      </p:sp>
      <p:sp>
        <p:nvSpPr>
          <p:cNvPr id="9" name="Título 1">
            <a:extLst>
              <a:ext uri="{FF2B5EF4-FFF2-40B4-BE49-F238E27FC236}">
                <a16:creationId xmlns:a16="http://schemas.microsoft.com/office/drawing/2014/main" id="{A0C89468-751A-2A2A-CE3E-8845237F1DC5}"/>
              </a:ext>
            </a:extLst>
          </p:cNvPr>
          <p:cNvSpPr txBox="1">
            <a:spLocks/>
          </p:cNvSpPr>
          <p:nvPr/>
        </p:nvSpPr>
        <p:spPr>
          <a:xfrm>
            <a:off x="8170535" y="3249774"/>
            <a:ext cx="3940185" cy="28036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s-MX" i="1" dirty="0"/>
          </a:p>
        </p:txBody>
      </p:sp>
      <p:sp>
        <p:nvSpPr>
          <p:cNvPr id="10" name="CuadroTexto 9">
            <a:extLst>
              <a:ext uri="{FF2B5EF4-FFF2-40B4-BE49-F238E27FC236}">
                <a16:creationId xmlns:a16="http://schemas.microsoft.com/office/drawing/2014/main" id="{4FE7E8AF-A930-F71D-50C1-11D4B101DEDB}"/>
              </a:ext>
            </a:extLst>
          </p:cNvPr>
          <p:cNvSpPr txBox="1"/>
          <p:nvPr/>
        </p:nvSpPr>
        <p:spPr>
          <a:xfrm>
            <a:off x="613697" y="2264693"/>
            <a:ext cx="4513782" cy="2246769"/>
          </a:xfrm>
          <a:prstGeom prst="rect">
            <a:avLst/>
          </a:prstGeom>
          <a:noFill/>
        </p:spPr>
        <p:txBody>
          <a:bodyPr wrap="square">
            <a:spAutoFit/>
          </a:bodyPr>
          <a:lstStyle/>
          <a:p>
            <a:r>
              <a:rPr lang="es-MX" sz="2000" i="1" dirty="0">
                <a:latin typeface="+mj-lt"/>
              </a:rPr>
              <a:t>Los recuerdos semánticos pueden gestionarse de distintas maneras. Por ejemplo, los recuerdos pueden consistir en un único "perfil" continuamente actualizado con información bien definida y específica sobre un usuario, organización u otra entidad (incluido el propio agente). </a:t>
            </a:r>
            <a:endParaRPr lang="es-CL" sz="2000" i="1" dirty="0">
              <a:latin typeface="+mj-lt"/>
            </a:endParaRPr>
          </a:p>
        </p:txBody>
      </p:sp>
      <p:sp>
        <p:nvSpPr>
          <p:cNvPr id="11" name="Título 1">
            <a:extLst>
              <a:ext uri="{FF2B5EF4-FFF2-40B4-BE49-F238E27FC236}">
                <a16:creationId xmlns:a16="http://schemas.microsoft.com/office/drawing/2014/main" id="{96B1212B-7F09-99E7-D063-EEFD30522F4A}"/>
              </a:ext>
            </a:extLst>
          </p:cNvPr>
          <p:cNvSpPr txBox="1">
            <a:spLocks/>
          </p:cNvSpPr>
          <p:nvPr/>
        </p:nvSpPr>
        <p:spPr>
          <a:xfrm>
            <a:off x="-904099" y="6308112"/>
            <a:ext cx="754937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CL" sz="1600" i="1" dirty="0"/>
              <a:t>https://docs.langchain.com/oss/python/langgraph/memory</a:t>
            </a:r>
          </a:p>
        </p:txBody>
      </p:sp>
      <p:pic>
        <p:nvPicPr>
          <p:cNvPr id="12" name="Imagen 11">
            <a:extLst>
              <a:ext uri="{FF2B5EF4-FFF2-40B4-BE49-F238E27FC236}">
                <a16:creationId xmlns:a16="http://schemas.microsoft.com/office/drawing/2014/main" id="{148DE2F7-5A73-5710-4E28-A0BF745558AA}"/>
              </a:ext>
            </a:extLst>
          </p:cNvPr>
          <p:cNvPicPr>
            <a:picLocks noChangeAspect="1"/>
          </p:cNvPicPr>
          <p:nvPr/>
        </p:nvPicPr>
        <p:blipFill>
          <a:blip r:embed="rId4"/>
          <a:stretch>
            <a:fillRect/>
          </a:stretch>
        </p:blipFill>
        <p:spPr>
          <a:xfrm>
            <a:off x="5427143" y="1217708"/>
            <a:ext cx="5708770" cy="4953313"/>
          </a:xfrm>
          <a:prstGeom prst="rect">
            <a:avLst/>
          </a:prstGeom>
        </p:spPr>
      </p:pic>
    </p:spTree>
    <p:extLst>
      <p:ext uri="{BB962C8B-B14F-4D97-AF65-F5344CB8AC3E}">
        <p14:creationId xmlns:p14="http://schemas.microsoft.com/office/powerpoint/2010/main" val="2836308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43B03-3B52-D5F4-C9D9-45AB5E8B3AD4}"/>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E16DE484-D9E8-8B7C-A9CC-3C8BC9985F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70A16B0E-69A4-B26E-F65B-0139EA91E25D}"/>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7399F91F-887F-1E9F-C4DD-8141E096C79F}"/>
              </a:ext>
            </a:extLst>
          </p:cNvPr>
          <p:cNvSpPr txBox="1">
            <a:spLocks/>
          </p:cNvSpPr>
          <p:nvPr/>
        </p:nvSpPr>
        <p:spPr>
          <a:xfrm>
            <a:off x="431580" y="957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L" b="1" i="1" dirty="0"/>
              <a:t>Episódica</a:t>
            </a:r>
            <a:r>
              <a:rPr lang="es-MX" b="1" i="1" dirty="0"/>
              <a:t>: </a:t>
            </a:r>
            <a:r>
              <a:rPr lang="es-MX" i="1" dirty="0"/>
              <a:t>Acciones o episodios pasadas</a:t>
            </a:r>
            <a:r>
              <a:rPr lang="es-MX" b="1" i="1" dirty="0"/>
              <a:t>.</a:t>
            </a:r>
            <a:endParaRPr lang="es-CL" i="1" dirty="0"/>
          </a:p>
        </p:txBody>
      </p:sp>
      <p:sp>
        <p:nvSpPr>
          <p:cNvPr id="9" name="Título 1">
            <a:extLst>
              <a:ext uri="{FF2B5EF4-FFF2-40B4-BE49-F238E27FC236}">
                <a16:creationId xmlns:a16="http://schemas.microsoft.com/office/drawing/2014/main" id="{80F70B44-F816-8C99-3871-FCAB63B56E94}"/>
              </a:ext>
            </a:extLst>
          </p:cNvPr>
          <p:cNvSpPr txBox="1">
            <a:spLocks/>
          </p:cNvSpPr>
          <p:nvPr/>
        </p:nvSpPr>
        <p:spPr>
          <a:xfrm>
            <a:off x="8170535" y="3249774"/>
            <a:ext cx="3940185" cy="28036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s-MX" i="1" dirty="0"/>
          </a:p>
        </p:txBody>
      </p:sp>
      <p:sp>
        <p:nvSpPr>
          <p:cNvPr id="10" name="CuadroTexto 9">
            <a:extLst>
              <a:ext uri="{FF2B5EF4-FFF2-40B4-BE49-F238E27FC236}">
                <a16:creationId xmlns:a16="http://schemas.microsoft.com/office/drawing/2014/main" id="{DED4107D-D387-C612-9116-A8EE3934EF07}"/>
              </a:ext>
            </a:extLst>
          </p:cNvPr>
          <p:cNvSpPr txBox="1"/>
          <p:nvPr/>
        </p:nvSpPr>
        <p:spPr>
          <a:xfrm>
            <a:off x="613697" y="1797968"/>
            <a:ext cx="4513782" cy="3477875"/>
          </a:xfrm>
          <a:prstGeom prst="rect">
            <a:avLst/>
          </a:prstGeom>
          <a:noFill/>
        </p:spPr>
        <p:txBody>
          <a:bodyPr wrap="square">
            <a:spAutoFit/>
          </a:bodyPr>
          <a:lstStyle/>
          <a:p>
            <a:r>
              <a:rPr lang="es-MX" sz="2000" i="1" dirty="0">
                <a:latin typeface="+mj-lt"/>
              </a:rPr>
              <a:t>La memoria episódica, tanto en humanos como en agentes de IA, implica recordar eventos o acciones pasadas. El artículo </a:t>
            </a:r>
            <a:r>
              <a:rPr lang="es-MX" sz="2000" i="1" dirty="0" err="1">
                <a:latin typeface="+mj-lt"/>
              </a:rPr>
              <a:t>CoALA</a:t>
            </a:r>
            <a:r>
              <a:rPr lang="es-MX" sz="2000" i="1" dirty="0">
                <a:latin typeface="+mj-lt"/>
              </a:rPr>
              <a:t> lo plantea de forma clara: los hechos pueden escribirse en la memoria semántica, mientras que las experiencias pueden escribirse en la memoria episódica. En el caso de los agentes de IA, la memoria episódica se utiliza frecuentemente para ayudar al agente a recordar cómo llevar a cabo una tarea.</a:t>
            </a:r>
            <a:endParaRPr lang="es-CL" sz="2000" i="1" dirty="0">
              <a:latin typeface="+mj-lt"/>
            </a:endParaRPr>
          </a:p>
        </p:txBody>
      </p:sp>
      <p:sp>
        <p:nvSpPr>
          <p:cNvPr id="11" name="Título 1">
            <a:extLst>
              <a:ext uri="{FF2B5EF4-FFF2-40B4-BE49-F238E27FC236}">
                <a16:creationId xmlns:a16="http://schemas.microsoft.com/office/drawing/2014/main" id="{4FB222B4-AA1E-C775-30E8-2431E44697C7}"/>
              </a:ext>
            </a:extLst>
          </p:cNvPr>
          <p:cNvSpPr txBox="1">
            <a:spLocks/>
          </p:cNvSpPr>
          <p:nvPr/>
        </p:nvSpPr>
        <p:spPr>
          <a:xfrm>
            <a:off x="-904099" y="6308112"/>
            <a:ext cx="754937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CL" sz="1600" i="1" dirty="0"/>
              <a:t>https://docs.langchain.com/oss/python/langgraph/memory</a:t>
            </a:r>
          </a:p>
        </p:txBody>
      </p:sp>
      <p:pic>
        <p:nvPicPr>
          <p:cNvPr id="5" name="Imagen 4">
            <a:extLst>
              <a:ext uri="{FF2B5EF4-FFF2-40B4-BE49-F238E27FC236}">
                <a16:creationId xmlns:a16="http://schemas.microsoft.com/office/drawing/2014/main" id="{1D2B42C0-F332-7492-2258-C6C65124CB56}"/>
              </a:ext>
            </a:extLst>
          </p:cNvPr>
          <p:cNvPicPr>
            <a:picLocks noChangeAspect="1"/>
          </p:cNvPicPr>
          <p:nvPr/>
        </p:nvPicPr>
        <p:blipFill>
          <a:blip r:embed="rId4"/>
          <a:stretch>
            <a:fillRect/>
          </a:stretch>
        </p:blipFill>
        <p:spPr>
          <a:xfrm>
            <a:off x="6096000" y="1920764"/>
            <a:ext cx="5267631" cy="3232281"/>
          </a:xfrm>
          <a:prstGeom prst="rect">
            <a:avLst/>
          </a:prstGeom>
        </p:spPr>
      </p:pic>
    </p:spTree>
    <p:extLst>
      <p:ext uri="{BB962C8B-B14F-4D97-AF65-F5344CB8AC3E}">
        <p14:creationId xmlns:p14="http://schemas.microsoft.com/office/powerpoint/2010/main" val="980311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ACDB2-0715-D0C9-E196-76271EA91E60}"/>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5100A106-BEF5-89F1-E6D9-15F9911808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1D8B0CF6-DF6E-A854-3976-A864470831FE}"/>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08CF7494-419A-F5DB-DF38-B76C920C90A9}"/>
              </a:ext>
            </a:extLst>
          </p:cNvPr>
          <p:cNvSpPr txBox="1">
            <a:spLocks/>
          </p:cNvSpPr>
          <p:nvPr/>
        </p:nvSpPr>
        <p:spPr>
          <a:xfrm>
            <a:off x="431580" y="957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L" b="1" i="1" dirty="0"/>
              <a:t>Procedural</a:t>
            </a:r>
            <a:r>
              <a:rPr lang="es-MX" b="1" i="1" dirty="0"/>
              <a:t>: </a:t>
            </a:r>
            <a:r>
              <a:rPr lang="es-MX" i="1" dirty="0"/>
              <a:t>Ejecutar acciones o habilidades</a:t>
            </a:r>
            <a:r>
              <a:rPr lang="es-MX" b="1" i="1" dirty="0"/>
              <a:t>.</a:t>
            </a:r>
            <a:endParaRPr lang="es-CL" i="1" dirty="0"/>
          </a:p>
        </p:txBody>
      </p:sp>
      <p:sp>
        <p:nvSpPr>
          <p:cNvPr id="9" name="Título 1">
            <a:extLst>
              <a:ext uri="{FF2B5EF4-FFF2-40B4-BE49-F238E27FC236}">
                <a16:creationId xmlns:a16="http://schemas.microsoft.com/office/drawing/2014/main" id="{2057300D-F732-FA3D-19FB-FA79E6E7FC74}"/>
              </a:ext>
            </a:extLst>
          </p:cNvPr>
          <p:cNvSpPr txBox="1">
            <a:spLocks/>
          </p:cNvSpPr>
          <p:nvPr/>
        </p:nvSpPr>
        <p:spPr>
          <a:xfrm>
            <a:off x="8170535" y="3249774"/>
            <a:ext cx="3940185" cy="28036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s-MX" i="1" dirty="0"/>
          </a:p>
        </p:txBody>
      </p:sp>
      <p:sp>
        <p:nvSpPr>
          <p:cNvPr id="10" name="CuadroTexto 9">
            <a:extLst>
              <a:ext uri="{FF2B5EF4-FFF2-40B4-BE49-F238E27FC236}">
                <a16:creationId xmlns:a16="http://schemas.microsoft.com/office/drawing/2014/main" id="{BC00C1A3-9649-2EB8-229E-2EE2444EAAED}"/>
              </a:ext>
            </a:extLst>
          </p:cNvPr>
          <p:cNvSpPr txBox="1"/>
          <p:nvPr/>
        </p:nvSpPr>
        <p:spPr>
          <a:xfrm>
            <a:off x="431580" y="1518802"/>
            <a:ext cx="5548978" cy="4093428"/>
          </a:xfrm>
          <a:prstGeom prst="rect">
            <a:avLst/>
          </a:prstGeom>
          <a:noFill/>
        </p:spPr>
        <p:txBody>
          <a:bodyPr wrap="square">
            <a:spAutoFit/>
          </a:bodyPr>
          <a:lstStyle/>
          <a:p>
            <a:r>
              <a:rPr lang="es-MX" sz="2000" i="1" dirty="0">
                <a:latin typeface="+mj-lt"/>
              </a:rPr>
              <a:t>Son las reglas utilizadas para realizar tareas. En los humanos, la memoria procedimental es como el conocimiento interiorizado de cómo ejecutar acciones, como montar en bicicleta mediante habilidades motoras básicas y equilibrio. La memoria episódica, en cambio, implica recordar experiencias específicas, como la primera vez que se montó en bicicleta sin </a:t>
            </a:r>
            <a:r>
              <a:rPr lang="es-MX" sz="2000" i="1" dirty="0" err="1">
                <a:latin typeface="+mj-lt"/>
              </a:rPr>
              <a:t>ruedines</a:t>
            </a:r>
            <a:r>
              <a:rPr lang="es-MX" sz="2000" i="1" dirty="0">
                <a:latin typeface="+mj-lt"/>
              </a:rPr>
              <a:t> o un paseo memorable por una ruta pintoresca. En el caso de los agentes de IA, la memoria procedimental es una combinación de los pesos del modelo, el código del agente y el </a:t>
            </a:r>
            <a:r>
              <a:rPr lang="es-MX" sz="2000" i="1" dirty="0" err="1">
                <a:latin typeface="+mj-lt"/>
              </a:rPr>
              <a:t>prompt</a:t>
            </a:r>
            <a:r>
              <a:rPr lang="es-MX" sz="2000" i="1" dirty="0">
                <a:latin typeface="+mj-lt"/>
              </a:rPr>
              <a:t> del agente, que en conjunto determinan la funcionalidad del agente.</a:t>
            </a:r>
            <a:endParaRPr lang="es-CL" sz="2000" i="1" dirty="0">
              <a:latin typeface="+mj-lt"/>
            </a:endParaRPr>
          </a:p>
        </p:txBody>
      </p:sp>
      <p:sp>
        <p:nvSpPr>
          <p:cNvPr id="11" name="Título 1">
            <a:extLst>
              <a:ext uri="{FF2B5EF4-FFF2-40B4-BE49-F238E27FC236}">
                <a16:creationId xmlns:a16="http://schemas.microsoft.com/office/drawing/2014/main" id="{3E3ECE98-2E3B-38D2-129C-552BF7766BA2}"/>
              </a:ext>
            </a:extLst>
          </p:cNvPr>
          <p:cNvSpPr txBox="1">
            <a:spLocks/>
          </p:cNvSpPr>
          <p:nvPr/>
        </p:nvSpPr>
        <p:spPr>
          <a:xfrm>
            <a:off x="-904099" y="6308112"/>
            <a:ext cx="754937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CL" sz="1600" i="1" dirty="0"/>
              <a:t>https://docs.langchain.com/oss/python/langgraph/memory</a:t>
            </a:r>
          </a:p>
        </p:txBody>
      </p:sp>
      <p:pic>
        <p:nvPicPr>
          <p:cNvPr id="6" name="Imagen 5">
            <a:extLst>
              <a:ext uri="{FF2B5EF4-FFF2-40B4-BE49-F238E27FC236}">
                <a16:creationId xmlns:a16="http://schemas.microsoft.com/office/drawing/2014/main" id="{700E80C6-A097-74C2-D026-CDA6211EC408}"/>
              </a:ext>
            </a:extLst>
          </p:cNvPr>
          <p:cNvPicPr>
            <a:picLocks noChangeAspect="1"/>
          </p:cNvPicPr>
          <p:nvPr/>
        </p:nvPicPr>
        <p:blipFill>
          <a:blip r:embed="rId4"/>
          <a:stretch>
            <a:fillRect/>
          </a:stretch>
        </p:blipFill>
        <p:spPr>
          <a:xfrm>
            <a:off x="5874026" y="1552428"/>
            <a:ext cx="4521432" cy="3968954"/>
          </a:xfrm>
          <a:prstGeom prst="rect">
            <a:avLst/>
          </a:prstGeom>
        </p:spPr>
      </p:pic>
    </p:spTree>
    <p:extLst>
      <p:ext uri="{BB962C8B-B14F-4D97-AF65-F5344CB8AC3E}">
        <p14:creationId xmlns:p14="http://schemas.microsoft.com/office/powerpoint/2010/main" val="2021915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83112-6CE6-793F-0075-96E146781970}"/>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FBD6A0C3-EF0A-1E71-3E12-C646ABBF29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8610A64A-327E-FDD0-1AFC-FA8FA6F652EA}"/>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9AD88A94-4F24-10C8-95E2-D1136E483D4D}"/>
              </a:ext>
            </a:extLst>
          </p:cNvPr>
          <p:cNvSpPr txBox="1">
            <a:spLocks/>
          </p:cNvSpPr>
          <p:nvPr/>
        </p:nvSpPr>
        <p:spPr>
          <a:xfrm>
            <a:off x="431580" y="957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L" b="1" i="1" dirty="0" err="1"/>
              <a:t>The</a:t>
            </a:r>
            <a:r>
              <a:rPr lang="es-CL" b="1" i="1" dirty="0"/>
              <a:t> </a:t>
            </a:r>
            <a:r>
              <a:rPr lang="es-CL" b="1" i="1" dirty="0" err="1"/>
              <a:t>Forgetting</a:t>
            </a:r>
            <a:r>
              <a:rPr lang="es-CL" b="1" i="1" dirty="0"/>
              <a:t> </a:t>
            </a:r>
            <a:r>
              <a:rPr lang="es-CL" b="1" i="1" dirty="0" err="1"/>
              <a:t>Problem</a:t>
            </a:r>
            <a:r>
              <a:rPr lang="es-MX" b="1" i="1" dirty="0"/>
              <a:t>: </a:t>
            </a:r>
            <a:r>
              <a:rPr lang="es-MX" i="1" dirty="0"/>
              <a:t>¿Qué recordar?</a:t>
            </a:r>
            <a:endParaRPr lang="es-CL" dirty="0"/>
          </a:p>
        </p:txBody>
      </p:sp>
      <p:sp>
        <p:nvSpPr>
          <p:cNvPr id="9" name="Título 1">
            <a:extLst>
              <a:ext uri="{FF2B5EF4-FFF2-40B4-BE49-F238E27FC236}">
                <a16:creationId xmlns:a16="http://schemas.microsoft.com/office/drawing/2014/main" id="{D045871F-16CE-16AD-2967-2B8A3EB6780E}"/>
              </a:ext>
            </a:extLst>
          </p:cNvPr>
          <p:cNvSpPr txBox="1">
            <a:spLocks/>
          </p:cNvSpPr>
          <p:nvPr/>
        </p:nvSpPr>
        <p:spPr>
          <a:xfrm>
            <a:off x="8170535" y="3249774"/>
            <a:ext cx="3940185" cy="28036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s-MX" i="1" dirty="0"/>
          </a:p>
        </p:txBody>
      </p:sp>
      <p:sp>
        <p:nvSpPr>
          <p:cNvPr id="6" name="CuadroTexto 5">
            <a:extLst>
              <a:ext uri="{FF2B5EF4-FFF2-40B4-BE49-F238E27FC236}">
                <a16:creationId xmlns:a16="http://schemas.microsoft.com/office/drawing/2014/main" id="{03CA0AE6-69EB-FC4B-CB7F-A3B8C28AEE9E}"/>
              </a:ext>
            </a:extLst>
          </p:cNvPr>
          <p:cNvSpPr txBox="1"/>
          <p:nvPr/>
        </p:nvSpPr>
        <p:spPr>
          <a:xfrm>
            <a:off x="581025" y="1319891"/>
            <a:ext cx="11277600" cy="1200329"/>
          </a:xfrm>
          <a:prstGeom prst="rect">
            <a:avLst/>
          </a:prstGeom>
          <a:noFill/>
        </p:spPr>
        <p:txBody>
          <a:bodyPr wrap="square">
            <a:spAutoFit/>
          </a:bodyPr>
          <a:lstStyle/>
          <a:p>
            <a:pPr algn="l"/>
            <a:r>
              <a:rPr lang="en-US" sz="2400" b="1" i="1" dirty="0">
                <a:latin typeface="LMSans10-Regular-Identity-H"/>
              </a:rPr>
              <a:t>Andrej </a:t>
            </a:r>
            <a:r>
              <a:rPr lang="en-US" sz="2400" b="1" i="1" u="none" strike="noStrike" baseline="0" dirty="0" err="1">
                <a:latin typeface="LMSans10-Regular-Identity-H"/>
              </a:rPr>
              <a:t>Karpathy</a:t>
            </a:r>
            <a:r>
              <a:rPr lang="en-US" sz="2400" b="0" i="0" u="none" strike="noStrike" baseline="0" dirty="0">
                <a:latin typeface="LMSans10-Regular-Identity-H"/>
              </a:rPr>
              <a:t>: </a:t>
            </a:r>
            <a:r>
              <a:rPr lang="en-US" sz="2400" b="0" i="1" u="none" strike="noStrike" baseline="0" dirty="0">
                <a:latin typeface="+mj-lt"/>
              </a:rPr>
              <a:t>“One common issue with personalization in all LLMs: a casual question from two months ago gets permanently treated as a deep interest and keeps resurfacing.” The real problem isn’t remembering - it’s knowing what to </a:t>
            </a:r>
            <a:r>
              <a:rPr lang="es-CL" sz="2400" b="0" i="1" u="none" strike="noStrike" baseline="0" dirty="0" err="1">
                <a:latin typeface="+mj-lt"/>
              </a:rPr>
              <a:t>forget</a:t>
            </a:r>
            <a:r>
              <a:rPr lang="es-CL" sz="2400" b="0" i="1" u="none" strike="noStrike" baseline="0" dirty="0">
                <a:latin typeface="+mj-lt"/>
              </a:rPr>
              <a:t>”.</a:t>
            </a:r>
            <a:endParaRPr lang="es-CL" sz="2400" i="1" dirty="0">
              <a:latin typeface="+mj-lt"/>
            </a:endParaRPr>
          </a:p>
        </p:txBody>
      </p:sp>
      <p:pic>
        <p:nvPicPr>
          <p:cNvPr id="10" name="Imagen 9">
            <a:extLst>
              <a:ext uri="{FF2B5EF4-FFF2-40B4-BE49-F238E27FC236}">
                <a16:creationId xmlns:a16="http://schemas.microsoft.com/office/drawing/2014/main" id="{A9AF5742-0000-CAA6-56DC-A1DBFD20FDFA}"/>
              </a:ext>
            </a:extLst>
          </p:cNvPr>
          <p:cNvPicPr>
            <a:picLocks noChangeAspect="1"/>
          </p:cNvPicPr>
          <p:nvPr/>
        </p:nvPicPr>
        <p:blipFill>
          <a:blip r:embed="rId4"/>
          <a:stretch>
            <a:fillRect/>
          </a:stretch>
        </p:blipFill>
        <p:spPr>
          <a:xfrm>
            <a:off x="3152775" y="2645454"/>
            <a:ext cx="5619750" cy="4107145"/>
          </a:xfrm>
          <a:prstGeom prst="rect">
            <a:avLst/>
          </a:prstGeom>
        </p:spPr>
      </p:pic>
      <p:sp>
        <p:nvSpPr>
          <p:cNvPr id="11" name="Título 1">
            <a:extLst>
              <a:ext uri="{FF2B5EF4-FFF2-40B4-BE49-F238E27FC236}">
                <a16:creationId xmlns:a16="http://schemas.microsoft.com/office/drawing/2014/main" id="{6B4B1AA6-9E42-56CD-E2CB-65E9F7833C12}"/>
              </a:ext>
            </a:extLst>
          </p:cNvPr>
          <p:cNvSpPr txBox="1">
            <a:spLocks/>
          </p:cNvSpPr>
          <p:nvPr/>
        </p:nvSpPr>
        <p:spPr>
          <a:xfrm>
            <a:off x="-1514087" y="6346853"/>
            <a:ext cx="939087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n-US" sz="1600" i="1" dirty="0"/>
              <a:t>Andrej </a:t>
            </a:r>
            <a:r>
              <a:rPr lang="en-US" sz="1600" i="1" dirty="0" err="1"/>
              <a:t>Karpathy</a:t>
            </a:r>
            <a:r>
              <a:rPr lang="en-US" sz="1600" i="1" dirty="0"/>
              <a:t>, who co-founded and formerly worked at OpenAI</a:t>
            </a:r>
            <a:endParaRPr lang="es-CL" sz="1600" i="1" dirty="0"/>
          </a:p>
        </p:txBody>
      </p:sp>
    </p:spTree>
    <p:extLst>
      <p:ext uri="{BB962C8B-B14F-4D97-AF65-F5344CB8AC3E}">
        <p14:creationId xmlns:p14="http://schemas.microsoft.com/office/powerpoint/2010/main" val="1290304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CE0A1-20BD-DDFF-874C-47C76FFCB3F9}"/>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E378B01E-5BAA-2776-0DA9-949584882D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D34B29C1-2A5B-ACD1-EA82-1F53E03AD167}"/>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A58ACCEF-CA71-52C7-5DD4-9E029308E635}"/>
              </a:ext>
            </a:extLst>
          </p:cNvPr>
          <p:cNvSpPr txBox="1">
            <a:spLocks/>
          </p:cNvSpPr>
          <p:nvPr/>
        </p:nvSpPr>
        <p:spPr>
          <a:xfrm>
            <a:off x="431580" y="957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L" b="1" i="1" dirty="0"/>
              <a:t>Arquitecturas de memoria: </a:t>
            </a:r>
            <a:r>
              <a:rPr lang="es-CL" i="1" dirty="0"/>
              <a:t>Flat hasta grafos.</a:t>
            </a:r>
          </a:p>
        </p:txBody>
      </p:sp>
      <p:sp>
        <p:nvSpPr>
          <p:cNvPr id="9" name="Título 1">
            <a:extLst>
              <a:ext uri="{FF2B5EF4-FFF2-40B4-BE49-F238E27FC236}">
                <a16:creationId xmlns:a16="http://schemas.microsoft.com/office/drawing/2014/main" id="{6F55C2A0-0C71-02A8-893B-31922F46253F}"/>
              </a:ext>
            </a:extLst>
          </p:cNvPr>
          <p:cNvSpPr txBox="1">
            <a:spLocks/>
          </p:cNvSpPr>
          <p:nvPr/>
        </p:nvSpPr>
        <p:spPr>
          <a:xfrm>
            <a:off x="8170535" y="3249774"/>
            <a:ext cx="3940185" cy="28036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s-MX" i="1" dirty="0"/>
          </a:p>
        </p:txBody>
      </p:sp>
      <p:pic>
        <p:nvPicPr>
          <p:cNvPr id="11" name="Imagen 10">
            <a:extLst>
              <a:ext uri="{FF2B5EF4-FFF2-40B4-BE49-F238E27FC236}">
                <a16:creationId xmlns:a16="http://schemas.microsoft.com/office/drawing/2014/main" id="{6F9486FD-9485-D43A-AE28-1859216D5C6B}"/>
              </a:ext>
            </a:extLst>
          </p:cNvPr>
          <p:cNvPicPr>
            <a:picLocks noChangeAspect="1"/>
          </p:cNvPicPr>
          <p:nvPr/>
        </p:nvPicPr>
        <p:blipFill>
          <a:blip r:embed="rId4"/>
          <a:stretch>
            <a:fillRect/>
          </a:stretch>
        </p:blipFill>
        <p:spPr>
          <a:xfrm>
            <a:off x="4676775" y="1373707"/>
            <a:ext cx="6722870" cy="4569630"/>
          </a:xfrm>
          <a:prstGeom prst="rect">
            <a:avLst/>
          </a:prstGeom>
        </p:spPr>
      </p:pic>
      <p:sp>
        <p:nvSpPr>
          <p:cNvPr id="12" name="CuadroTexto 11">
            <a:extLst>
              <a:ext uri="{FF2B5EF4-FFF2-40B4-BE49-F238E27FC236}">
                <a16:creationId xmlns:a16="http://schemas.microsoft.com/office/drawing/2014/main" id="{E298E019-8C01-ED2E-69D4-FEF545505747}"/>
              </a:ext>
            </a:extLst>
          </p:cNvPr>
          <p:cNvSpPr txBox="1"/>
          <p:nvPr/>
        </p:nvSpPr>
        <p:spPr>
          <a:xfrm>
            <a:off x="657225" y="1789300"/>
            <a:ext cx="4019550" cy="2862322"/>
          </a:xfrm>
          <a:prstGeom prst="rect">
            <a:avLst/>
          </a:prstGeom>
          <a:noFill/>
        </p:spPr>
        <p:txBody>
          <a:bodyPr wrap="square">
            <a:spAutoFit/>
          </a:bodyPr>
          <a:lstStyle/>
          <a:p>
            <a:pPr algn="l"/>
            <a:r>
              <a:rPr lang="es-MX" sz="2000" i="1" dirty="0">
                <a:latin typeface="+mj-lt"/>
              </a:rPr>
              <a:t>La memoria puede ser almacenada como:</a:t>
            </a:r>
          </a:p>
          <a:p>
            <a:pPr algn="l"/>
            <a:endParaRPr lang="es-MX" sz="2000" i="1" dirty="0">
              <a:latin typeface="+mj-lt"/>
            </a:endParaRPr>
          </a:p>
          <a:p>
            <a:r>
              <a:rPr lang="es-MX" sz="2000" i="1" dirty="0">
                <a:latin typeface="+mj-lt"/>
              </a:rPr>
              <a:t>1. Base de datos vectorial (Vector </a:t>
            </a:r>
            <a:r>
              <a:rPr lang="es-MX" sz="2000" i="1" dirty="0" err="1">
                <a:latin typeface="+mj-lt"/>
              </a:rPr>
              <a:t>Database</a:t>
            </a:r>
            <a:r>
              <a:rPr lang="es-MX" sz="2000" i="1" dirty="0">
                <a:latin typeface="+mj-lt"/>
              </a:rPr>
              <a:t>)</a:t>
            </a:r>
          </a:p>
          <a:p>
            <a:r>
              <a:rPr lang="es-MX" sz="2000" i="1" dirty="0">
                <a:latin typeface="+mj-lt"/>
              </a:rPr>
              <a:t>2. </a:t>
            </a:r>
            <a:r>
              <a:rPr lang="pt-BR" sz="2000" i="1" dirty="0">
                <a:latin typeface="+mj-lt"/>
              </a:rPr>
              <a:t>Sistema de </a:t>
            </a:r>
            <a:r>
              <a:rPr lang="pt-BR" sz="2000" i="1" dirty="0" err="1">
                <a:latin typeface="+mj-lt"/>
              </a:rPr>
              <a:t>archivos</a:t>
            </a:r>
            <a:r>
              <a:rPr lang="pt-BR" sz="2000" i="1" dirty="0">
                <a:latin typeface="+mj-lt"/>
              </a:rPr>
              <a:t> (File System)</a:t>
            </a:r>
          </a:p>
          <a:p>
            <a:r>
              <a:rPr lang="es-MX" sz="2000" i="1" dirty="0">
                <a:latin typeface="+mj-lt"/>
              </a:rPr>
              <a:t>3. </a:t>
            </a:r>
            <a:r>
              <a:rPr lang="es-CL" sz="2000" i="1" dirty="0">
                <a:latin typeface="+mj-lt"/>
              </a:rPr>
              <a:t>Contexto (</a:t>
            </a:r>
            <a:r>
              <a:rPr lang="es-CL" sz="2000" i="1" dirty="0" err="1">
                <a:latin typeface="+mj-lt"/>
              </a:rPr>
              <a:t>Context</a:t>
            </a:r>
            <a:r>
              <a:rPr lang="es-CL" sz="2000" i="1" dirty="0">
                <a:latin typeface="+mj-lt"/>
              </a:rPr>
              <a:t> </a:t>
            </a:r>
            <a:r>
              <a:rPr lang="es-CL" sz="2000" i="1" dirty="0" err="1">
                <a:latin typeface="+mj-lt"/>
              </a:rPr>
              <a:t>Window</a:t>
            </a:r>
            <a:r>
              <a:rPr lang="es-CL" sz="2000" i="1" dirty="0">
                <a:latin typeface="+mj-lt"/>
              </a:rPr>
              <a:t>)</a:t>
            </a:r>
          </a:p>
          <a:p>
            <a:r>
              <a:rPr lang="es-CL" sz="2000" i="1" dirty="0">
                <a:latin typeface="+mj-lt"/>
              </a:rPr>
              <a:t>4. </a:t>
            </a:r>
            <a:r>
              <a:rPr lang="es-MX" sz="2000" i="1" dirty="0">
                <a:latin typeface="+mj-lt"/>
              </a:rPr>
              <a:t>Base de datos de grafos (</a:t>
            </a:r>
            <a:r>
              <a:rPr lang="es-MX" sz="2000" i="1" dirty="0" err="1">
                <a:latin typeface="+mj-lt"/>
              </a:rPr>
              <a:t>Graph</a:t>
            </a:r>
            <a:r>
              <a:rPr lang="es-MX" sz="2000" i="1" dirty="0">
                <a:latin typeface="+mj-lt"/>
              </a:rPr>
              <a:t> </a:t>
            </a:r>
            <a:r>
              <a:rPr lang="es-MX" sz="2000" i="1" dirty="0" err="1">
                <a:latin typeface="+mj-lt"/>
              </a:rPr>
              <a:t>Database</a:t>
            </a:r>
            <a:r>
              <a:rPr lang="es-MX" sz="2000" i="1" dirty="0">
                <a:latin typeface="+mj-lt"/>
              </a:rPr>
              <a:t>)</a:t>
            </a:r>
            <a:r>
              <a:rPr lang="es-CL" sz="2000" i="1" dirty="0">
                <a:latin typeface="+mj-lt"/>
              </a:rPr>
              <a:t>.</a:t>
            </a:r>
          </a:p>
        </p:txBody>
      </p:sp>
    </p:spTree>
    <p:extLst>
      <p:ext uri="{BB962C8B-B14F-4D97-AF65-F5344CB8AC3E}">
        <p14:creationId xmlns:p14="http://schemas.microsoft.com/office/powerpoint/2010/main" val="2896746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45CD3-7DC3-608E-14B9-03A52EA26D82}"/>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2A9B5AA4-BEBA-C88C-1F8F-EA0AEE7CEF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158312C2-D1F3-A81C-9EC6-4E51F7865235}"/>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625EC53B-46AA-ED32-9E17-8845FC6C699D}"/>
              </a:ext>
            </a:extLst>
          </p:cNvPr>
          <p:cNvSpPr txBox="1">
            <a:spLocks/>
          </p:cNvSpPr>
          <p:nvPr/>
        </p:nvSpPr>
        <p:spPr>
          <a:xfrm>
            <a:off x="431580" y="957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L" b="1" i="1" dirty="0"/>
              <a:t>Una mirada a nivel de producto.</a:t>
            </a:r>
            <a:endParaRPr lang="es-CL" dirty="0"/>
          </a:p>
        </p:txBody>
      </p:sp>
      <p:sp>
        <p:nvSpPr>
          <p:cNvPr id="9" name="Título 1">
            <a:extLst>
              <a:ext uri="{FF2B5EF4-FFF2-40B4-BE49-F238E27FC236}">
                <a16:creationId xmlns:a16="http://schemas.microsoft.com/office/drawing/2014/main" id="{ED246D0A-7F89-F0D1-893B-8F988F640F87}"/>
              </a:ext>
            </a:extLst>
          </p:cNvPr>
          <p:cNvSpPr txBox="1">
            <a:spLocks/>
          </p:cNvSpPr>
          <p:nvPr/>
        </p:nvSpPr>
        <p:spPr>
          <a:xfrm>
            <a:off x="8170535" y="3249774"/>
            <a:ext cx="3940185" cy="28036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s-MX" i="1" dirty="0"/>
          </a:p>
        </p:txBody>
      </p:sp>
      <p:sp>
        <p:nvSpPr>
          <p:cNvPr id="12" name="CuadroTexto 11">
            <a:extLst>
              <a:ext uri="{FF2B5EF4-FFF2-40B4-BE49-F238E27FC236}">
                <a16:creationId xmlns:a16="http://schemas.microsoft.com/office/drawing/2014/main" id="{62BAE831-8701-67D2-9335-4B642B041875}"/>
              </a:ext>
            </a:extLst>
          </p:cNvPr>
          <p:cNvSpPr txBox="1"/>
          <p:nvPr/>
        </p:nvSpPr>
        <p:spPr>
          <a:xfrm>
            <a:off x="647701" y="1941723"/>
            <a:ext cx="4019550" cy="2616101"/>
          </a:xfrm>
          <a:prstGeom prst="rect">
            <a:avLst/>
          </a:prstGeom>
          <a:noFill/>
        </p:spPr>
        <p:txBody>
          <a:bodyPr wrap="square">
            <a:spAutoFit/>
          </a:bodyPr>
          <a:lstStyle/>
          <a:p>
            <a:pPr algn="l"/>
            <a:r>
              <a:rPr lang="es-MX" sz="2000" i="1" dirty="0">
                <a:latin typeface="+mj-lt"/>
              </a:rPr>
              <a:t>A nivel de producto, el memoria puede ser catalogada en dos ejes:</a:t>
            </a:r>
          </a:p>
          <a:p>
            <a:pPr algn="l"/>
            <a:endParaRPr lang="es-MX" sz="2000" i="1" dirty="0">
              <a:latin typeface="+mj-lt"/>
            </a:endParaRPr>
          </a:p>
          <a:p>
            <a:pPr algn="l"/>
            <a:r>
              <a:rPr lang="es-MX" sz="2000" i="1" dirty="0">
                <a:latin typeface="+mj-lt"/>
              </a:rPr>
              <a:t>1. </a:t>
            </a:r>
            <a:r>
              <a:rPr lang="es-MX" sz="2000" i="1" dirty="0" err="1">
                <a:latin typeface="+mj-lt"/>
              </a:rPr>
              <a:t>Structured</a:t>
            </a:r>
            <a:r>
              <a:rPr lang="es-MX" sz="2000" i="1" dirty="0">
                <a:latin typeface="+mj-lt"/>
              </a:rPr>
              <a:t> </a:t>
            </a:r>
            <a:r>
              <a:rPr lang="es-MX" sz="2000" i="1" dirty="0" err="1">
                <a:latin typeface="+mj-lt"/>
              </a:rPr>
              <a:t>Graph</a:t>
            </a:r>
            <a:r>
              <a:rPr lang="es-MX" sz="2000" i="1" dirty="0">
                <a:latin typeface="+mj-lt"/>
              </a:rPr>
              <a:t> vs Flat Storage</a:t>
            </a:r>
          </a:p>
          <a:p>
            <a:pPr algn="l"/>
            <a:endParaRPr lang="es-MX" sz="2000" i="1" dirty="0">
              <a:latin typeface="+mj-lt"/>
            </a:endParaRPr>
          </a:p>
          <a:p>
            <a:pPr algn="l"/>
            <a:r>
              <a:rPr lang="es-MX" sz="2000" i="1" dirty="0">
                <a:latin typeface="+mj-lt"/>
              </a:rPr>
              <a:t>2. Active </a:t>
            </a:r>
            <a:r>
              <a:rPr lang="es-MX" sz="2000" i="1" dirty="0" err="1">
                <a:latin typeface="+mj-lt"/>
              </a:rPr>
              <a:t>Managment</a:t>
            </a:r>
            <a:r>
              <a:rPr lang="es-MX" sz="2000" i="1" dirty="0">
                <a:latin typeface="+mj-lt"/>
              </a:rPr>
              <a:t> </a:t>
            </a:r>
            <a:r>
              <a:rPr lang="es-MX" sz="2000" i="1" dirty="0" err="1">
                <a:latin typeface="+mj-lt"/>
              </a:rPr>
              <a:t>or</a:t>
            </a:r>
            <a:r>
              <a:rPr lang="es-MX" sz="2000" i="1" dirty="0">
                <a:latin typeface="+mj-lt"/>
              </a:rPr>
              <a:t> </a:t>
            </a:r>
            <a:r>
              <a:rPr lang="es-MX" sz="2000" i="1" dirty="0" err="1">
                <a:latin typeface="+mj-lt"/>
              </a:rPr>
              <a:t>Passive</a:t>
            </a:r>
            <a:r>
              <a:rPr lang="es-MX" sz="2000" i="1" dirty="0">
                <a:latin typeface="+mj-lt"/>
              </a:rPr>
              <a:t> Store.</a:t>
            </a:r>
          </a:p>
          <a:p>
            <a:pPr algn="l"/>
            <a:endParaRPr lang="es-CL" sz="2400" dirty="0">
              <a:latin typeface="+mj-lt"/>
            </a:endParaRPr>
          </a:p>
        </p:txBody>
      </p:sp>
      <p:pic>
        <p:nvPicPr>
          <p:cNvPr id="5" name="Imagen 4">
            <a:extLst>
              <a:ext uri="{FF2B5EF4-FFF2-40B4-BE49-F238E27FC236}">
                <a16:creationId xmlns:a16="http://schemas.microsoft.com/office/drawing/2014/main" id="{D10D8AFE-10EB-15D5-1901-B7B26B0DCD1F}"/>
              </a:ext>
            </a:extLst>
          </p:cNvPr>
          <p:cNvPicPr>
            <a:picLocks noChangeAspect="1"/>
          </p:cNvPicPr>
          <p:nvPr/>
        </p:nvPicPr>
        <p:blipFill>
          <a:blip r:embed="rId4"/>
          <a:stretch>
            <a:fillRect/>
          </a:stretch>
        </p:blipFill>
        <p:spPr>
          <a:xfrm>
            <a:off x="4591051" y="1609650"/>
            <a:ext cx="6763098" cy="4076910"/>
          </a:xfrm>
          <a:prstGeom prst="rect">
            <a:avLst/>
          </a:prstGeom>
        </p:spPr>
      </p:pic>
    </p:spTree>
    <p:extLst>
      <p:ext uri="{BB962C8B-B14F-4D97-AF65-F5344CB8AC3E}">
        <p14:creationId xmlns:p14="http://schemas.microsoft.com/office/powerpoint/2010/main" val="357847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A78E-F13D-F485-8812-AAC081BAADE1}"/>
            </a:ext>
          </a:extLst>
        </p:cNvPr>
        <p:cNvGrpSpPr/>
        <p:nvPr/>
      </p:nvGrpSpPr>
      <p:grpSpPr>
        <a:xfrm>
          <a:off x="0" y="0"/>
          <a:ext cx="0" cy="0"/>
          <a:chOff x="0" y="0"/>
          <a:chExt cx="0" cy="0"/>
        </a:xfrm>
      </p:grpSpPr>
      <p:sp>
        <p:nvSpPr>
          <p:cNvPr id="3" name="Elipse 2">
            <a:extLst>
              <a:ext uri="{FF2B5EF4-FFF2-40B4-BE49-F238E27FC236}">
                <a16:creationId xmlns:a16="http://schemas.microsoft.com/office/drawing/2014/main" id="{8953AAAD-E2FC-BA1A-1ABB-0F757496B3E5}"/>
              </a:ext>
            </a:extLst>
          </p:cNvPr>
          <p:cNvSpPr/>
          <p:nvPr/>
        </p:nvSpPr>
        <p:spPr>
          <a:xfrm>
            <a:off x="1433554" y="1032457"/>
            <a:ext cx="2856238" cy="2268401"/>
          </a:xfrm>
          <a:prstGeom prst="ellipse">
            <a:avLst/>
          </a:prstGeom>
          <a:solidFill>
            <a:schemeClr val="bg1"/>
          </a:solid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4" name="Picture 2" descr="Duoc UC - Learn Chile">
            <a:extLst>
              <a:ext uri="{FF2B5EF4-FFF2-40B4-BE49-F238E27FC236}">
                <a16:creationId xmlns:a16="http://schemas.microsoft.com/office/drawing/2014/main" id="{54426261-159F-0AB4-721D-E8321ED90E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42B10471-0421-219C-42FE-B6BBEA6E9E2A}"/>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5" name="Título 1">
            <a:extLst>
              <a:ext uri="{FF2B5EF4-FFF2-40B4-BE49-F238E27FC236}">
                <a16:creationId xmlns:a16="http://schemas.microsoft.com/office/drawing/2014/main" id="{F7959D8D-0754-8CE7-2637-DFDA9E6DEB40}"/>
              </a:ext>
            </a:extLst>
          </p:cNvPr>
          <p:cNvSpPr txBox="1">
            <a:spLocks/>
          </p:cNvSpPr>
          <p:nvPr/>
        </p:nvSpPr>
        <p:spPr>
          <a:xfrm>
            <a:off x="1183008" y="5501982"/>
            <a:ext cx="3745035" cy="45411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i="1" dirty="0"/>
              <a:t>El motor del modelo. Los principales proveedor son </a:t>
            </a:r>
            <a:r>
              <a:rPr lang="es-MX" sz="1600" i="1" dirty="0" err="1"/>
              <a:t>OpenAI</a:t>
            </a:r>
            <a:r>
              <a:rPr lang="es-MX" sz="1600" i="1" dirty="0"/>
              <a:t>, Google y </a:t>
            </a:r>
            <a:r>
              <a:rPr lang="es-MX" sz="1600" i="1" dirty="0" err="1"/>
              <a:t>Anthropic</a:t>
            </a:r>
            <a:endParaRPr lang="es-CL" sz="1600" i="1" dirty="0"/>
          </a:p>
        </p:txBody>
      </p:sp>
      <p:pic>
        <p:nvPicPr>
          <p:cNvPr id="9" name="Gráfico 8" descr="Robot">
            <a:extLst>
              <a:ext uri="{FF2B5EF4-FFF2-40B4-BE49-F238E27FC236}">
                <a16:creationId xmlns:a16="http://schemas.microsoft.com/office/drawing/2014/main" id="{1AFBF278-ADE3-4BD7-AD58-BF3275346BB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9470" y="2761605"/>
            <a:ext cx="1078506" cy="1078506"/>
          </a:xfrm>
          <a:prstGeom prst="rect">
            <a:avLst/>
          </a:prstGeom>
        </p:spPr>
      </p:pic>
      <p:sp>
        <p:nvSpPr>
          <p:cNvPr id="10" name="Título 1">
            <a:extLst>
              <a:ext uri="{FF2B5EF4-FFF2-40B4-BE49-F238E27FC236}">
                <a16:creationId xmlns:a16="http://schemas.microsoft.com/office/drawing/2014/main" id="{9E787F2A-8313-1AE0-F218-4D2B56E793A8}"/>
              </a:ext>
            </a:extLst>
          </p:cNvPr>
          <p:cNvSpPr txBox="1">
            <a:spLocks/>
          </p:cNvSpPr>
          <p:nvPr/>
        </p:nvSpPr>
        <p:spPr>
          <a:xfrm>
            <a:off x="-2469519" y="4435466"/>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LLMs</a:t>
            </a:r>
            <a:endParaRPr lang="es-MX" sz="2400" i="1" dirty="0"/>
          </a:p>
        </p:txBody>
      </p:sp>
      <p:sp>
        <p:nvSpPr>
          <p:cNvPr id="11" name="Título 1">
            <a:extLst>
              <a:ext uri="{FF2B5EF4-FFF2-40B4-BE49-F238E27FC236}">
                <a16:creationId xmlns:a16="http://schemas.microsoft.com/office/drawing/2014/main" id="{3AE539E2-4C4C-7AAA-1BAD-EE7F3326C009}"/>
              </a:ext>
            </a:extLst>
          </p:cNvPr>
          <p:cNvSpPr txBox="1">
            <a:spLocks/>
          </p:cNvSpPr>
          <p:nvPr/>
        </p:nvSpPr>
        <p:spPr>
          <a:xfrm>
            <a:off x="3389875" y="1030899"/>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Plan</a:t>
            </a:r>
            <a:endParaRPr lang="es-MX" sz="2400" i="1" dirty="0"/>
          </a:p>
        </p:txBody>
      </p:sp>
      <p:sp>
        <p:nvSpPr>
          <p:cNvPr id="12" name="Título 1">
            <a:extLst>
              <a:ext uri="{FF2B5EF4-FFF2-40B4-BE49-F238E27FC236}">
                <a16:creationId xmlns:a16="http://schemas.microsoft.com/office/drawing/2014/main" id="{77D34B60-8D62-41C2-83C4-558490A03A25}"/>
              </a:ext>
            </a:extLst>
          </p:cNvPr>
          <p:cNvSpPr txBox="1">
            <a:spLocks/>
          </p:cNvSpPr>
          <p:nvPr/>
        </p:nvSpPr>
        <p:spPr>
          <a:xfrm>
            <a:off x="2762554" y="4376423"/>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Tools</a:t>
            </a:r>
            <a:endParaRPr lang="es-MX" sz="2400" i="1" dirty="0"/>
          </a:p>
        </p:txBody>
      </p:sp>
      <p:sp>
        <p:nvSpPr>
          <p:cNvPr id="13" name="Título 1">
            <a:extLst>
              <a:ext uri="{FF2B5EF4-FFF2-40B4-BE49-F238E27FC236}">
                <a16:creationId xmlns:a16="http://schemas.microsoft.com/office/drawing/2014/main" id="{6995E99A-44C8-BAE8-02FC-3FAD01D9B2CA}"/>
              </a:ext>
            </a:extLst>
          </p:cNvPr>
          <p:cNvSpPr txBox="1">
            <a:spLocks/>
          </p:cNvSpPr>
          <p:nvPr/>
        </p:nvSpPr>
        <p:spPr>
          <a:xfrm>
            <a:off x="-2548837" y="1103843"/>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Memoria</a:t>
            </a:r>
            <a:endParaRPr lang="es-MX" sz="2400" i="1" dirty="0"/>
          </a:p>
        </p:txBody>
      </p:sp>
      <p:cxnSp>
        <p:nvCxnSpPr>
          <p:cNvPr id="15" name="Conector recto de flecha 14">
            <a:extLst>
              <a:ext uri="{FF2B5EF4-FFF2-40B4-BE49-F238E27FC236}">
                <a16:creationId xmlns:a16="http://schemas.microsoft.com/office/drawing/2014/main" id="{587DCB69-58EA-4F28-E7D3-8605F9C3C47B}"/>
              </a:ext>
            </a:extLst>
          </p:cNvPr>
          <p:cNvCxnSpPr>
            <a:cxnSpLocks/>
          </p:cNvCxnSpPr>
          <p:nvPr/>
        </p:nvCxnSpPr>
        <p:spPr>
          <a:xfrm flipH="1" flipV="1">
            <a:off x="4163928" y="2031392"/>
            <a:ext cx="1075542" cy="9025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8D4B00BC-37C8-F799-696D-732A2C53892F}"/>
              </a:ext>
            </a:extLst>
          </p:cNvPr>
          <p:cNvCxnSpPr>
            <a:cxnSpLocks/>
          </p:cNvCxnSpPr>
          <p:nvPr/>
        </p:nvCxnSpPr>
        <p:spPr>
          <a:xfrm flipH="1">
            <a:off x="3315403" y="3725729"/>
            <a:ext cx="1847069" cy="9844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9B3F832A-09E0-4D85-4C67-9442CCAA7261}"/>
              </a:ext>
            </a:extLst>
          </p:cNvPr>
          <p:cNvCxnSpPr>
            <a:cxnSpLocks/>
          </p:cNvCxnSpPr>
          <p:nvPr/>
        </p:nvCxnSpPr>
        <p:spPr>
          <a:xfrm flipV="1">
            <a:off x="6394974" y="1986843"/>
            <a:ext cx="1388059" cy="91378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E9CBE871-9105-BAA6-4549-3BC2D34391EC}"/>
              </a:ext>
            </a:extLst>
          </p:cNvPr>
          <p:cNvCxnSpPr>
            <a:cxnSpLocks/>
          </p:cNvCxnSpPr>
          <p:nvPr/>
        </p:nvCxnSpPr>
        <p:spPr>
          <a:xfrm>
            <a:off x="6394974" y="3752385"/>
            <a:ext cx="1388059" cy="93118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ítulo 1">
            <a:extLst>
              <a:ext uri="{FF2B5EF4-FFF2-40B4-BE49-F238E27FC236}">
                <a16:creationId xmlns:a16="http://schemas.microsoft.com/office/drawing/2014/main" id="{64688A16-8F73-2E62-5D0B-4C5ED53B69D0}"/>
              </a:ext>
            </a:extLst>
          </p:cNvPr>
          <p:cNvSpPr>
            <a:spLocks noGrp="1"/>
          </p:cNvSpPr>
          <p:nvPr>
            <p:ph type="title"/>
          </p:nvPr>
        </p:nvSpPr>
        <p:spPr>
          <a:xfrm>
            <a:off x="2905767" y="16190"/>
            <a:ext cx="10515600" cy="1325563"/>
          </a:xfrm>
        </p:spPr>
        <p:txBody>
          <a:bodyPr/>
          <a:lstStyle/>
          <a:p>
            <a:r>
              <a:rPr lang="es-MX" b="1" i="1" dirty="0"/>
              <a:t>Agentes</a:t>
            </a:r>
            <a:r>
              <a:rPr lang="es-MX" i="1" dirty="0"/>
              <a:t> más que solo </a:t>
            </a:r>
            <a:r>
              <a:rPr lang="es-MX" i="1" dirty="0" err="1"/>
              <a:t>LLMs</a:t>
            </a:r>
            <a:r>
              <a:rPr lang="es-MX" b="1" i="1" dirty="0"/>
              <a:t>.</a:t>
            </a:r>
            <a:endParaRPr lang="es-CL" b="1" dirty="0"/>
          </a:p>
        </p:txBody>
      </p:sp>
      <p:sp>
        <p:nvSpPr>
          <p:cNvPr id="36" name="Título 1">
            <a:extLst>
              <a:ext uri="{FF2B5EF4-FFF2-40B4-BE49-F238E27FC236}">
                <a16:creationId xmlns:a16="http://schemas.microsoft.com/office/drawing/2014/main" id="{2251D9D5-2BBB-A627-3249-0C0C712967F1}"/>
              </a:ext>
            </a:extLst>
          </p:cNvPr>
          <p:cNvSpPr txBox="1">
            <a:spLocks/>
          </p:cNvSpPr>
          <p:nvPr/>
        </p:nvSpPr>
        <p:spPr>
          <a:xfrm>
            <a:off x="1425199" y="1897436"/>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i="1" dirty="0"/>
              <a:t>mecanismos que permiten a un modelo retener y utilizar información.</a:t>
            </a:r>
          </a:p>
          <a:p>
            <a:pPr algn="ctr"/>
            <a:r>
              <a:rPr lang="es-MX" sz="1500" i="1" dirty="0"/>
              <a:t>. </a:t>
            </a:r>
            <a:endParaRPr lang="es-CL" sz="1500" i="1" dirty="0"/>
          </a:p>
        </p:txBody>
      </p:sp>
      <p:sp>
        <p:nvSpPr>
          <p:cNvPr id="37" name="Título 1">
            <a:extLst>
              <a:ext uri="{FF2B5EF4-FFF2-40B4-BE49-F238E27FC236}">
                <a16:creationId xmlns:a16="http://schemas.microsoft.com/office/drawing/2014/main" id="{6E48EB6D-CBC5-80DB-C27F-2E0FCB59B7D8}"/>
              </a:ext>
            </a:extLst>
          </p:cNvPr>
          <p:cNvSpPr txBox="1">
            <a:spLocks/>
          </p:cNvSpPr>
          <p:nvPr/>
        </p:nvSpPr>
        <p:spPr>
          <a:xfrm>
            <a:off x="7783033" y="1859734"/>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i="1" dirty="0"/>
              <a:t>Capacidad del modelo de descomponer un problema en tareas para resolverlo.</a:t>
            </a:r>
          </a:p>
          <a:p>
            <a:pPr algn="ctr"/>
            <a:r>
              <a:rPr lang="es-MX" sz="1500" i="1" dirty="0"/>
              <a:t>. </a:t>
            </a:r>
            <a:endParaRPr lang="es-CL" sz="1500" i="1" dirty="0"/>
          </a:p>
        </p:txBody>
      </p:sp>
      <p:sp>
        <p:nvSpPr>
          <p:cNvPr id="38" name="Título 1">
            <a:extLst>
              <a:ext uri="{FF2B5EF4-FFF2-40B4-BE49-F238E27FC236}">
                <a16:creationId xmlns:a16="http://schemas.microsoft.com/office/drawing/2014/main" id="{15FF02DA-45EB-D1F8-76E4-9350FFB0AB56}"/>
              </a:ext>
            </a:extLst>
          </p:cNvPr>
          <p:cNvSpPr txBox="1">
            <a:spLocks/>
          </p:cNvSpPr>
          <p:nvPr/>
        </p:nvSpPr>
        <p:spPr>
          <a:xfrm>
            <a:off x="7753499" y="5123362"/>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i="1" dirty="0"/>
              <a:t>Funciones que le permiten al modelo conectarse con el mundo exterior.</a:t>
            </a:r>
          </a:p>
          <a:p>
            <a:pPr algn="ctr"/>
            <a:r>
              <a:rPr lang="es-MX" sz="1500" i="1" dirty="0"/>
              <a:t>. </a:t>
            </a:r>
            <a:endParaRPr lang="es-CL" sz="1500" i="1" dirty="0"/>
          </a:p>
        </p:txBody>
      </p:sp>
      <p:sp>
        <p:nvSpPr>
          <p:cNvPr id="6" name="Título 1">
            <a:extLst>
              <a:ext uri="{FF2B5EF4-FFF2-40B4-BE49-F238E27FC236}">
                <a16:creationId xmlns:a16="http://schemas.microsoft.com/office/drawing/2014/main" id="{89320BEF-009A-935C-62ED-1BB41946746C}"/>
              </a:ext>
            </a:extLst>
          </p:cNvPr>
          <p:cNvSpPr txBox="1">
            <a:spLocks/>
          </p:cNvSpPr>
          <p:nvPr/>
        </p:nvSpPr>
        <p:spPr>
          <a:xfrm>
            <a:off x="128600" y="3146931"/>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b="1" i="1" dirty="0">
                <a:solidFill>
                  <a:srgbClr val="FF0000"/>
                </a:solidFill>
              </a:rPr>
              <a:t>La memoria no es solo un accesorio en los agentes, es parte fundamental para su auto evolución </a:t>
            </a:r>
            <a:endParaRPr lang="es-CL" sz="1500" b="1" i="1" dirty="0">
              <a:solidFill>
                <a:srgbClr val="FF0000"/>
              </a:solidFill>
            </a:endParaRPr>
          </a:p>
        </p:txBody>
      </p:sp>
    </p:spTree>
    <p:extLst>
      <p:ext uri="{BB962C8B-B14F-4D97-AF65-F5344CB8AC3E}">
        <p14:creationId xmlns:p14="http://schemas.microsoft.com/office/powerpoint/2010/main" val="410619364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3071</TotalTime>
  <Words>735</Words>
  <Application>Microsoft Office PowerPoint</Application>
  <PresentationFormat>Panorámica</PresentationFormat>
  <Paragraphs>65</Paragraphs>
  <Slides>13</Slides>
  <Notes>11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Calibri Light</vt:lpstr>
      <vt:lpstr>LMSans10-Regular-Identity-H</vt:lpstr>
      <vt:lpstr>Tema de Office</vt:lpstr>
      <vt:lpstr>Ingeniería de soluciones con AI</vt:lpstr>
      <vt:lpstr>Noticias: Capacidades, limitaciones y evaluaciones de seguridad de un nuevo modelo llamado Claude Mythos.</vt:lpstr>
      <vt:lpstr>¿Qué es la memoria?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Agentes más que solo LLMs.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25</cp:revision>
  <dcterms:created xsi:type="dcterms:W3CDTF">2026-03-06T13:35:57Z</dcterms:created>
  <dcterms:modified xsi:type="dcterms:W3CDTF">2026-04-14T13:39:52Z</dcterms:modified>
</cp:coreProperties>
</file>