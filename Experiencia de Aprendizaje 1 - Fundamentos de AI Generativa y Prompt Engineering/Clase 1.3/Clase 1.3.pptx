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96" r:id="rId3"/>
    <p:sldId id="266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95" r:id="rId15"/>
    <p:sldId id="285" r:id="rId16"/>
    <p:sldId id="286" r:id="rId17"/>
    <p:sldId id="288" r:id="rId18"/>
    <p:sldId id="287" r:id="rId19"/>
    <p:sldId id="289" r:id="rId20"/>
    <p:sldId id="290" r:id="rId21"/>
    <p:sldId id="291" r:id="rId22"/>
    <p:sldId id="292" r:id="rId23"/>
    <p:sldId id="293" r:id="rId24"/>
    <p:sldId id="294" r:id="rId2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7" autoAdjust="0"/>
    <p:restoredTop sz="92905" autoAdjust="0"/>
  </p:normalViewPr>
  <p:slideViewPr>
    <p:cSldViewPr snapToGrid="0">
      <p:cViewPr varScale="1">
        <p:scale>
          <a:sx n="62" d="100"/>
          <a:sy n="62" d="100"/>
        </p:scale>
        <p:origin x="8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DCB0C-69E9-4911-980B-989A824EA717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7F482-7FF7-4DD4-AE91-ACA70D5B43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979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497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E45DA-D710-33C5-56A3-FE48E1045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329774-3EF0-6C31-B3CF-A7EE4AD9F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BF67684-022F-25A1-7ADE-268EF5DE9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020B15-A38A-3136-3F49-4DB518D48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1824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9F834-6C48-7EC3-C0ED-1F4EBFEA2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D51031-F5DC-8EFF-C0B7-08B4814C1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C18A3A-23C3-3ECB-4731-B8E8BBB62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051D61-702A-C6DD-F30F-E9B11FD40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2334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CEC5-442B-1BE6-42E5-6CF80EFD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EE8F1D-BDCF-397E-2DD7-81917E690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098090D-9544-15CB-1ACE-03A2AD0E5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CBF7AA-D9BF-4723-0F5E-D14C1E53D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1889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665CE-6629-7122-7A34-0789CD6A6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46F4AB2-9386-EA9B-AD34-3E06F4FE3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0E289C-FA00-D683-2365-0974333AA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23E7E6-615E-C153-5DEC-D1E449ED4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9358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4553B-B9F4-DB87-DA3E-658BC011C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87BC3E0-AC01-E860-7401-6084C5DCA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A7A047F-DA92-93A0-F617-254700FB6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ED029B-35DD-898E-EB12-D9F609689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0522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3EFA1-995D-9EAB-4641-D506ABCF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C1C554A-4072-3885-9916-575424370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40925EE-09EA-7551-07AD-4C22480DE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652982-8AFA-BBF9-8A39-9870C6613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3896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BCC1F-D00B-95E2-CD59-91C20402F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7C2283F-167A-C7E2-989E-86D443EDC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608FE7-D9CE-2AAC-79E3-726310579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684C6A-A5AC-390C-AE95-1434DED34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4070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AA39B-D538-8449-82B6-940322F7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7E3A0A-1846-1A91-372A-48EC9C47A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4A47E08-6D7E-E8BA-E770-34C61583F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EDFD01-A944-0242-826B-B3AF9D477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5511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D3692-0E6D-AD56-8D9C-D94664E0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C6FF2E6-896C-FA92-E59D-C64906516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69FDF13-D13A-5690-6BEC-6D8AD0CD6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1D1A36-0423-E5D4-046B-0F9676808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5808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9CB74-802E-4EF9-E2A2-9736D236B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DCAB44-78BB-82A7-F20F-1A808BD92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5EAD2A-1299-02E8-89DA-D88A5A247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1B7E66-97C5-1618-5D0C-F8B451320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7820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2FD4-5952-8167-AFF8-974C6E125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436C31E-DC7F-22C8-2596-6F27A76D1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F868A0-650A-E055-25FF-FDD6FA4B6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3B541C-D150-0D1D-A5AF-01778D60A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6687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929E-B2FA-A095-59E5-1CBE9F158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4C8FB74-8C95-39D0-EB3E-FA793E1A8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EB6F9D0-399B-4987-DAE1-4CCE16819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0778F1-68D7-154E-31D0-A1B3DBFB1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898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15233-DA70-BD5C-E188-51E5C4E5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0AEB96-B941-6E75-196B-06942587B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3D036A-E3A6-4730-A944-52107BD8C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301C03-355C-538F-0BE8-2A797883B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6056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D2A26-30DF-F308-3285-F059ACEF8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5DF00B-7E4E-8BD7-22CA-6D666C6F0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F35B1E3-A8B8-6A52-6B31-D722ED8FB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933A10-AC49-7220-0F9A-18F6767C2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13606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C6A3E-6638-B463-91BA-F990C5ED9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5E71565-4403-9286-E3B4-E928CCC38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36BEFF-A0CD-9054-34E3-F4F14F54B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C42786-B01A-48F5-1F9F-1FF580257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3126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08777-49AC-EF6D-1468-E5C290178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6F50F4-FD45-4CE4-8390-0C48611F8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0A70549-6B88-DE67-84E1-B426A7F2F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2F6C2E-6BE1-AD55-0F5D-119626FF3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99268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3C97F-886B-B3F6-BE8F-26BA2D2A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A371849-EDA9-1B5E-0DBE-22B238FA7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15554C9-EA1C-236C-EBC1-8B4CB4564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C23E72-2895-5A38-B2C6-975976D1F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45883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4B4B3-4EDE-EF5C-D9F6-24C60EC9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9FD7A6-34F5-4B7E-A34E-AD1712E55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C6058E-D48B-6CBA-A12A-8D4BDE78C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C0BE07-093E-CEB1-387C-6F2CB27EC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83013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18197-518D-4CC5-D2F6-5493A7413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8BF4F09-5229-11CC-2B48-BECC023C6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5F7B21-69DC-3B4D-B36D-24C36FC59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0AF486-58B0-BC89-0F62-55CBAE5C3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0707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1CEB3-5675-98F6-5555-EE13E992A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7ADF84-13F9-5B39-43F1-14E7D8EA0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A3DF8-0758-BF8A-9304-ECC31709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A8AD70-F127-7BA6-5921-BCF7845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809D2E-C8C8-DAE5-342D-7ACCCAC6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280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2BA7-F473-4377-62A9-34C36518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76B6C-F6ED-E8B4-6256-B671D382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376944-86DF-A06F-F26C-EEAE3330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2D504-2579-A803-D017-38F414D8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44F6F1-3475-DF5A-171D-90C0A636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958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EE0DC-FE41-207B-B5D4-12044E8D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5E523B-DBFD-D95C-BDA2-AF438B18F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0A689A-2C60-C5ED-1F57-27748FB8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6A1D8-E528-4BB5-3D0E-DD599C20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BCB4D-49C6-4998-F409-6029A291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0702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1A91A-3147-1537-3F76-79772FA4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01651-05BC-1EC6-A58E-575D048EC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082018-B822-A183-DA4B-1C3D16A4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F26C75-9BEB-D6DB-5431-6309AC889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71B78F-8C40-BEB7-3CA1-D48366C1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D4D4F6-B884-C893-0AE7-0BD236FC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688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8DA5D-9DAA-85F9-8663-3F4CFE4F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CA55E1-B5F5-EAF9-B7FE-D45D79747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121A24-CF2D-161C-0F6E-E25010C98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0F6704-DF9F-D96E-863C-22E02CAD6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08E114D-20FF-505F-3AC7-DFA59AC8F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1214F7-5555-5155-7348-E210F99F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C5D59F-5FAC-9631-CDC3-84D27C41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1995D8-D632-D10E-8AFF-26E5C809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27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870B8-34B8-37DC-89DB-47FC09CC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0F1EB3-E9A9-3C8D-7E75-A95C59BF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37F6A3-CB35-F37A-A6DA-88C9FF44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4C9290-251F-B1E0-AEAA-710A3CB5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122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1B6F75-8539-FB15-F03B-E2523D1B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725444-0A64-F2BF-CE6D-C96D6C23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A95120-3AD7-2633-1852-99868A08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57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67FF6-55E8-496C-BCC4-4D7B4033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28B327-F8C2-0B0D-FCA9-41E590A06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74743E-45A5-85D0-4052-5B42C3C07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AA9CE0-4EF9-BCF9-74C2-CFE7CCCA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A8C77C-C8E9-8F00-1622-EC17987D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BA34C7-982A-2E74-0F17-C8063BB6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4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31788-80C1-18AA-49B2-00AA49AE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9EDF4D-E446-21A3-5193-EA3AA3FD2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2F1C9E-17FA-6C7E-F214-0530F189A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1A0B5E-955F-3A5F-84DE-EE873021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FDB288-42E2-730F-3EC2-75CDD0F0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9CA278-6D6E-B2A8-B1E4-9F7DA302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1643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56C15-EF0C-C8A8-41F6-840E0E43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36D5AC-B824-2DA4-A083-1EEB7768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0E341-3C14-25A1-76F8-8BC7FE23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9B56E-2B7B-8C60-811D-12FE70B4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50FC0E-77B0-E187-7241-8BE9332F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291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00424F-3FDF-9896-F8DF-EBF93BEF4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50F60B-440F-292F-888A-8EF62AA41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116BF-3104-AF5D-C0A8-E063AF70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F5DAA-9632-8650-11D1-4852CB9F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DD27B8-05BD-48E2-3B7C-2DF3A1DB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673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E1D736-C504-F2D3-4D26-5C0C6D78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32A4F1-8C91-29BD-B83A-D5ED13E39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C91089-CE03-9300-C918-89BA1B7A9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DA46D-A1A7-4D05-A86A-5A57D57622A5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E5FFC7-CC22-AA3D-8561-D011B9400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EE7A9-3E52-92C2-1A3E-C180FB6A6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56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C5055-DE28-A84E-9FB5-12A3C43AF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9403"/>
            <a:ext cx="9144000" cy="2387600"/>
          </a:xfrm>
        </p:spPr>
        <p:txBody>
          <a:bodyPr/>
          <a:lstStyle/>
          <a:p>
            <a:r>
              <a:rPr lang="es-MX" i="1" dirty="0"/>
              <a:t>Ingeniería de soluciones con AI</a:t>
            </a:r>
            <a:endParaRPr lang="es-CL" i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898086-6830-28E7-5F70-A1C13B3A9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3760" y="5788758"/>
            <a:ext cx="2585194" cy="675639"/>
          </a:xfrm>
        </p:spPr>
        <p:txBody>
          <a:bodyPr>
            <a:normAutofit lnSpcReduction="10000"/>
          </a:bodyPr>
          <a:lstStyle/>
          <a:p>
            <a:pPr algn="l"/>
            <a:r>
              <a:rPr lang="es-MX" sz="1800" b="1" i="1" dirty="0"/>
              <a:t>Docente:</a:t>
            </a:r>
          </a:p>
          <a:p>
            <a:pPr algn="l"/>
            <a:r>
              <a:rPr lang="es-MX" sz="1800" i="1" dirty="0"/>
              <a:t>Francisco Macaya</a:t>
            </a:r>
            <a:endParaRPr lang="es-CL" sz="1800" i="1" dirty="0"/>
          </a:p>
        </p:txBody>
      </p:sp>
      <p:pic>
        <p:nvPicPr>
          <p:cNvPr id="1026" name="Picture 2" descr="Duoc UC - Learn Chile">
            <a:extLst>
              <a:ext uri="{FF2B5EF4-FFF2-40B4-BE49-F238E27FC236}">
                <a16:creationId xmlns:a16="http://schemas.microsoft.com/office/drawing/2014/main" id="{EFAFD388-37C4-B6E5-0BD9-719436329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289FDFC1-9135-D283-EA5A-9264421DCA54}"/>
              </a:ext>
            </a:extLst>
          </p:cNvPr>
          <p:cNvSpPr txBox="1">
            <a:spLocks/>
          </p:cNvSpPr>
          <p:nvPr/>
        </p:nvSpPr>
        <p:spPr>
          <a:xfrm>
            <a:off x="5345302" y="5971981"/>
            <a:ext cx="2585194" cy="675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i="1" dirty="0"/>
              <a:t>Semestre 2026-1</a:t>
            </a:r>
            <a:endParaRPr lang="es-CL" sz="1800" i="1" dirty="0"/>
          </a:p>
        </p:txBody>
      </p:sp>
    </p:spTree>
    <p:extLst>
      <p:ext uri="{BB962C8B-B14F-4D97-AF65-F5344CB8AC3E}">
        <p14:creationId xmlns:p14="http://schemas.microsoft.com/office/powerpoint/2010/main" val="281779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90ABC-D647-E87E-AAE0-D524378C1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uoc UC - Learn Chile">
            <a:extLst>
              <a:ext uri="{FF2B5EF4-FFF2-40B4-BE49-F238E27FC236}">
                <a16:creationId xmlns:a16="http://schemas.microsoft.com/office/drawing/2014/main" id="{4C3BE5F9-27B6-33F5-1026-80A56F6FF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FF652441-FFCB-0E72-804E-1A56DB685153}"/>
              </a:ext>
            </a:extLst>
          </p:cNvPr>
          <p:cNvSpPr txBox="1">
            <a:spLocks/>
          </p:cNvSpPr>
          <p:nvPr/>
        </p:nvSpPr>
        <p:spPr>
          <a:xfrm>
            <a:off x="5345302" y="5971981"/>
            <a:ext cx="2585194" cy="675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i="1" dirty="0"/>
              <a:t>Semestre 2026-1</a:t>
            </a:r>
            <a:endParaRPr lang="es-CL" sz="18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0AD5F41-9325-E9D6-C693-8308BF6BDAC1}"/>
              </a:ext>
            </a:extLst>
          </p:cNvPr>
          <p:cNvSpPr txBox="1">
            <a:spLocks/>
          </p:cNvSpPr>
          <p:nvPr/>
        </p:nvSpPr>
        <p:spPr>
          <a:xfrm>
            <a:off x="-404974" y="-2196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b="1" i="1" dirty="0"/>
              <a:t>Noticias: </a:t>
            </a:r>
            <a:r>
              <a:rPr lang="es-MX" sz="3600" dirty="0"/>
              <a:t>AI no es solo software, sino hardware.</a:t>
            </a:r>
            <a:r>
              <a:rPr lang="es-MX" sz="3600" b="1" i="1" dirty="0"/>
              <a:t> </a:t>
            </a:r>
            <a:endParaRPr lang="es-CL" sz="3600" i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616FA3C-C9A7-6507-8B84-70FEBC0C1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01" y="1239526"/>
            <a:ext cx="11027797" cy="500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85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156E4-CA9F-D506-B0D1-EEE348E0C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EDB48-DD50-4819-B34A-4BE67304E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Recapitulemos: </a:t>
            </a:r>
            <a:r>
              <a:rPr lang="es-MX" sz="3600" i="1" dirty="0"/>
              <a:t>Los </a:t>
            </a:r>
            <a:r>
              <a:rPr lang="es-MX" sz="3600" i="1" dirty="0" err="1"/>
              <a:t>LLMs</a:t>
            </a:r>
            <a:r>
              <a:rPr lang="es-MX" sz="3600" i="1" dirty="0"/>
              <a:t> como un sistema aislado.</a:t>
            </a:r>
            <a:r>
              <a:rPr lang="es-MX" sz="3600" b="1" i="1" dirty="0"/>
              <a:t> 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1201A8FD-C688-8C94-3C88-C8750E71A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AD34305-CE44-2BAB-65E8-F5B7F8D76A88}"/>
              </a:ext>
            </a:extLst>
          </p:cNvPr>
          <p:cNvSpPr/>
          <p:nvPr/>
        </p:nvSpPr>
        <p:spPr>
          <a:xfrm>
            <a:off x="4804464" y="2869058"/>
            <a:ext cx="2147298" cy="14075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LLMs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86F2804-74D3-F5D1-4CD1-9D7071DF7209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951762" y="3572837"/>
            <a:ext cx="23668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59258CD-5417-BAD4-A3ED-46E437E2E724}"/>
              </a:ext>
            </a:extLst>
          </p:cNvPr>
          <p:cNvCxnSpPr/>
          <p:nvPr/>
        </p:nvCxnSpPr>
        <p:spPr>
          <a:xfrm>
            <a:off x="2307844" y="3572837"/>
            <a:ext cx="2496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89E844E-224D-B9B5-BC12-F5AE94109EB7}"/>
              </a:ext>
            </a:extLst>
          </p:cNvPr>
          <p:cNvSpPr txBox="1"/>
          <p:nvPr/>
        </p:nvSpPr>
        <p:spPr>
          <a:xfrm>
            <a:off x="1629749" y="3100497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 err="1"/>
              <a:t>Prompts</a:t>
            </a:r>
            <a:r>
              <a:rPr lang="es-MX" i="1" dirty="0"/>
              <a:t> &amp; </a:t>
            </a:r>
            <a:r>
              <a:rPr lang="es-MX" i="1" dirty="0" err="1"/>
              <a:t>Parametros</a:t>
            </a:r>
            <a:r>
              <a:rPr lang="es-MX" i="1" dirty="0"/>
              <a:t>.</a:t>
            </a:r>
            <a:endParaRPr lang="es-CL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5C21B5B-A3A9-EC82-6BD9-6CB818DEFA83}"/>
              </a:ext>
            </a:extLst>
          </p:cNvPr>
          <p:cNvSpPr txBox="1"/>
          <p:nvPr/>
        </p:nvSpPr>
        <p:spPr>
          <a:xfrm>
            <a:off x="7731303" y="3036282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Texto Generado, tokens.</a:t>
            </a:r>
            <a:endParaRPr lang="es-CL" i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345D11E-0AF7-38E1-C73B-DEF4D9F6E772}"/>
              </a:ext>
            </a:extLst>
          </p:cNvPr>
          <p:cNvSpPr txBox="1"/>
          <p:nvPr/>
        </p:nvSpPr>
        <p:spPr>
          <a:xfrm>
            <a:off x="5364404" y="4443840"/>
            <a:ext cx="3174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Modelos</a:t>
            </a:r>
          </a:p>
          <a:p>
            <a:endParaRPr lang="es-CL" i="1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850914A-B7B0-C2C4-8E5F-E90582D02BBA}"/>
              </a:ext>
            </a:extLst>
          </p:cNvPr>
          <p:cNvCxnSpPr>
            <a:cxnSpLocks/>
          </p:cNvCxnSpPr>
          <p:nvPr/>
        </p:nvCxnSpPr>
        <p:spPr>
          <a:xfrm>
            <a:off x="2157573" y="2291137"/>
            <a:ext cx="0" cy="7451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015EC12-F033-8286-9855-670714312BC7}"/>
              </a:ext>
            </a:extLst>
          </p:cNvPr>
          <p:cNvSpPr txBox="1"/>
          <p:nvPr/>
        </p:nvSpPr>
        <p:spPr>
          <a:xfrm>
            <a:off x="1157138" y="1870301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err="1"/>
              <a:t>Prompt</a:t>
            </a:r>
            <a:r>
              <a:rPr lang="es-CL" b="1" dirty="0"/>
              <a:t> </a:t>
            </a:r>
            <a:r>
              <a:rPr lang="es-CL" b="1" dirty="0" err="1"/>
              <a:t>Engineering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888093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3ACE-31D5-F143-8080-A733AC5BE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75FB5-2076-2E74-E253-6C15D12A0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Recapitulemos: </a:t>
            </a:r>
            <a:r>
              <a:rPr lang="es-MX" sz="3600" i="1" dirty="0"/>
              <a:t>Los </a:t>
            </a:r>
            <a:r>
              <a:rPr lang="es-MX" sz="3600" i="1" dirty="0" err="1"/>
              <a:t>LLMs</a:t>
            </a:r>
            <a:r>
              <a:rPr lang="es-MX" sz="3600" i="1" dirty="0"/>
              <a:t> como un sistema aislado.</a:t>
            </a:r>
            <a:r>
              <a:rPr lang="es-MX" sz="3600" b="1" i="1" dirty="0"/>
              <a:t> 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6C1C34F3-3850-A460-E6A1-3FA07E956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1816B5D-5CD0-3FEF-5A6C-987A0E71C2B6}"/>
              </a:ext>
            </a:extLst>
          </p:cNvPr>
          <p:cNvSpPr/>
          <p:nvPr/>
        </p:nvSpPr>
        <p:spPr>
          <a:xfrm>
            <a:off x="4804464" y="2869058"/>
            <a:ext cx="2147298" cy="14075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LLMs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0847280A-65C2-2CAC-8A40-4799FACC50FB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951762" y="3572837"/>
            <a:ext cx="23668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8F928BB-9D40-E8BE-B1A7-207FB2C9041E}"/>
              </a:ext>
            </a:extLst>
          </p:cNvPr>
          <p:cNvCxnSpPr/>
          <p:nvPr/>
        </p:nvCxnSpPr>
        <p:spPr>
          <a:xfrm>
            <a:off x="2307844" y="3572837"/>
            <a:ext cx="2496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0984993-D15A-35DD-87F5-E8F3D5C5E0FC}"/>
              </a:ext>
            </a:extLst>
          </p:cNvPr>
          <p:cNvSpPr txBox="1"/>
          <p:nvPr/>
        </p:nvSpPr>
        <p:spPr>
          <a:xfrm>
            <a:off x="1629749" y="3100497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 err="1"/>
              <a:t>Prompts</a:t>
            </a:r>
            <a:r>
              <a:rPr lang="es-MX" i="1" dirty="0"/>
              <a:t> &amp; </a:t>
            </a:r>
            <a:r>
              <a:rPr lang="es-MX" i="1" dirty="0" err="1"/>
              <a:t>Parametros</a:t>
            </a:r>
            <a:r>
              <a:rPr lang="es-MX" i="1" dirty="0"/>
              <a:t>.</a:t>
            </a:r>
            <a:endParaRPr lang="es-CL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D3A4B3B-7B27-6AD1-2A76-246124645D80}"/>
              </a:ext>
            </a:extLst>
          </p:cNvPr>
          <p:cNvSpPr txBox="1"/>
          <p:nvPr/>
        </p:nvSpPr>
        <p:spPr>
          <a:xfrm>
            <a:off x="7731303" y="3036282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Texto Generado, tokens.</a:t>
            </a:r>
            <a:endParaRPr lang="es-CL" i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4253D42-012F-54BE-C6B1-74A8CB9F14EA}"/>
              </a:ext>
            </a:extLst>
          </p:cNvPr>
          <p:cNvSpPr txBox="1"/>
          <p:nvPr/>
        </p:nvSpPr>
        <p:spPr>
          <a:xfrm>
            <a:off x="5364404" y="4443840"/>
            <a:ext cx="3174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Modelos</a:t>
            </a:r>
          </a:p>
          <a:p>
            <a:endParaRPr lang="es-CL" i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BAACB5-AF16-D4F8-2ED3-C36901449886}"/>
              </a:ext>
            </a:extLst>
          </p:cNvPr>
          <p:cNvSpPr txBox="1"/>
          <p:nvPr/>
        </p:nvSpPr>
        <p:spPr>
          <a:xfrm>
            <a:off x="4847271" y="5075633"/>
            <a:ext cx="31747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i="1" dirty="0"/>
              <a:t>¿Qué falta?</a:t>
            </a:r>
          </a:p>
          <a:p>
            <a:endParaRPr lang="es-CL" i="1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A1CCDC7-633D-609A-AC89-14E01DB1243E}"/>
              </a:ext>
            </a:extLst>
          </p:cNvPr>
          <p:cNvCxnSpPr>
            <a:cxnSpLocks/>
          </p:cNvCxnSpPr>
          <p:nvPr/>
        </p:nvCxnSpPr>
        <p:spPr>
          <a:xfrm>
            <a:off x="2157573" y="2291137"/>
            <a:ext cx="0" cy="7451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188D142-BEEC-15D1-A6DF-32F4BA11B8D2}"/>
              </a:ext>
            </a:extLst>
          </p:cNvPr>
          <p:cNvSpPr txBox="1"/>
          <p:nvPr/>
        </p:nvSpPr>
        <p:spPr>
          <a:xfrm>
            <a:off x="1157138" y="1870301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err="1"/>
              <a:t>Prompt</a:t>
            </a:r>
            <a:r>
              <a:rPr lang="es-CL" b="1" dirty="0"/>
              <a:t> </a:t>
            </a:r>
            <a:r>
              <a:rPr lang="es-CL" b="1" dirty="0" err="1"/>
              <a:t>Engineering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105387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55C85-E11E-F4DE-25E0-6D0C82FE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E16A2-1D46-CEDC-4A87-3543DEA2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Recapitulemos: </a:t>
            </a:r>
            <a:r>
              <a:rPr lang="es-MX" sz="3600" i="1" dirty="0"/>
              <a:t>Los </a:t>
            </a:r>
            <a:r>
              <a:rPr lang="es-MX" sz="3600" i="1" dirty="0" err="1"/>
              <a:t>LLMs</a:t>
            </a:r>
            <a:r>
              <a:rPr lang="es-MX" sz="3600" i="1" dirty="0"/>
              <a:t> como un sistema aislado.</a:t>
            </a:r>
            <a:r>
              <a:rPr lang="es-MX" sz="3600" b="1" i="1" dirty="0"/>
              <a:t> 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F0272E96-F61F-CBBB-27BC-C18BD0ABB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C51763B-893E-21FA-E440-9DE235750974}"/>
              </a:ext>
            </a:extLst>
          </p:cNvPr>
          <p:cNvSpPr/>
          <p:nvPr/>
        </p:nvSpPr>
        <p:spPr>
          <a:xfrm>
            <a:off x="4804464" y="2869058"/>
            <a:ext cx="2147298" cy="14075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LLMs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405D1D1-8276-25A1-F6A9-DC149194D6FF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951762" y="3572837"/>
            <a:ext cx="23668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65CD7F58-2C62-31DA-73AC-FB2F1526996F}"/>
              </a:ext>
            </a:extLst>
          </p:cNvPr>
          <p:cNvCxnSpPr/>
          <p:nvPr/>
        </p:nvCxnSpPr>
        <p:spPr>
          <a:xfrm>
            <a:off x="2307844" y="3572837"/>
            <a:ext cx="24966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15D6330-3970-BF64-3205-AC30F3759F18}"/>
              </a:ext>
            </a:extLst>
          </p:cNvPr>
          <p:cNvSpPr txBox="1"/>
          <p:nvPr/>
        </p:nvSpPr>
        <p:spPr>
          <a:xfrm>
            <a:off x="1629749" y="3100497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 err="1"/>
              <a:t>Prompts</a:t>
            </a:r>
            <a:r>
              <a:rPr lang="es-MX" i="1" dirty="0"/>
              <a:t> &amp; </a:t>
            </a:r>
            <a:r>
              <a:rPr lang="es-MX" i="1" dirty="0" err="1"/>
              <a:t>Parametros</a:t>
            </a:r>
            <a:r>
              <a:rPr lang="es-MX" i="1" dirty="0"/>
              <a:t>.</a:t>
            </a:r>
            <a:endParaRPr lang="es-CL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2E46FA4-D511-29B1-3C31-34B908A716E9}"/>
              </a:ext>
            </a:extLst>
          </p:cNvPr>
          <p:cNvSpPr txBox="1"/>
          <p:nvPr/>
        </p:nvSpPr>
        <p:spPr>
          <a:xfrm>
            <a:off x="7731303" y="3036282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Texto Generado, tokens.</a:t>
            </a:r>
            <a:endParaRPr lang="es-CL" i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DDA9259-4FA7-C6CF-3D7B-65C14061FEC2}"/>
              </a:ext>
            </a:extLst>
          </p:cNvPr>
          <p:cNvSpPr txBox="1"/>
          <p:nvPr/>
        </p:nvSpPr>
        <p:spPr>
          <a:xfrm>
            <a:off x="5364404" y="4443840"/>
            <a:ext cx="3174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Modelos</a:t>
            </a:r>
          </a:p>
          <a:p>
            <a:endParaRPr lang="es-CL" i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C77F53D-69C8-91F2-04D9-8B2E422226D3}"/>
              </a:ext>
            </a:extLst>
          </p:cNvPr>
          <p:cNvSpPr txBox="1"/>
          <p:nvPr/>
        </p:nvSpPr>
        <p:spPr>
          <a:xfrm>
            <a:off x="1562020" y="4923233"/>
            <a:ext cx="86321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i="1" dirty="0"/>
              <a:t>Los modelos no tienen acceso a datos actuales ni privados.  No tienen memoria . No tienen acceso aplicaciones, ni al mundo real. No pueden ejecutar algo. Son como un niño que solo me sirve para tareas generalistas.</a:t>
            </a:r>
            <a:endParaRPr lang="es-CL" i="1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2A76059-C73D-1DCD-B508-C6EA5416AED3}"/>
              </a:ext>
            </a:extLst>
          </p:cNvPr>
          <p:cNvCxnSpPr>
            <a:cxnSpLocks/>
          </p:cNvCxnSpPr>
          <p:nvPr/>
        </p:nvCxnSpPr>
        <p:spPr>
          <a:xfrm>
            <a:off x="2157573" y="2291137"/>
            <a:ext cx="0" cy="7451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311377D-5F01-F317-211A-F79E6C97EE48}"/>
              </a:ext>
            </a:extLst>
          </p:cNvPr>
          <p:cNvSpPr txBox="1"/>
          <p:nvPr/>
        </p:nvSpPr>
        <p:spPr>
          <a:xfrm>
            <a:off x="1157138" y="1870301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err="1"/>
              <a:t>Prompt</a:t>
            </a:r>
            <a:r>
              <a:rPr lang="es-CL" b="1" dirty="0"/>
              <a:t> </a:t>
            </a:r>
            <a:r>
              <a:rPr lang="es-CL" b="1" dirty="0" err="1"/>
              <a:t>Engineering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325545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5F036-01CF-1FD7-900E-69B8E53F5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81064-0C10-A30F-383D-7BDF95267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De generalista a especialista: </a:t>
            </a:r>
            <a:r>
              <a:rPr lang="es-MX" sz="3600" i="1" dirty="0"/>
              <a:t>El camino de la AI.</a:t>
            </a:r>
            <a:r>
              <a:rPr lang="es-MX" sz="3600" b="1" i="1" dirty="0"/>
              <a:t>  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B1391584-AF87-4EEA-CA8A-1B61D0AE8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E800AD7-17EE-055A-7169-71C1B24D36B9}"/>
              </a:ext>
            </a:extLst>
          </p:cNvPr>
          <p:cNvCxnSpPr>
            <a:cxnSpLocks/>
          </p:cNvCxnSpPr>
          <p:nvPr/>
        </p:nvCxnSpPr>
        <p:spPr>
          <a:xfrm>
            <a:off x="2412297" y="3100226"/>
            <a:ext cx="76953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9BD77ECA-AB66-9B1C-16DF-407084A8FBCF}"/>
              </a:ext>
            </a:extLst>
          </p:cNvPr>
          <p:cNvCxnSpPr/>
          <p:nvPr/>
        </p:nvCxnSpPr>
        <p:spPr>
          <a:xfrm flipV="1">
            <a:off x="2412297" y="2599362"/>
            <a:ext cx="0" cy="5008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E2515934-C0DA-3602-6D4B-1127AF24FCB6}"/>
              </a:ext>
            </a:extLst>
          </p:cNvPr>
          <p:cNvCxnSpPr/>
          <p:nvPr/>
        </p:nvCxnSpPr>
        <p:spPr>
          <a:xfrm flipV="1">
            <a:off x="4999673" y="2599362"/>
            <a:ext cx="0" cy="5008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562A0DB9-B66F-A980-AB2A-08B910972639}"/>
              </a:ext>
            </a:extLst>
          </p:cNvPr>
          <p:cNvCxnSpPr>
            <a:cxnSpLocks/>
          </p:cNvCxnSpPr>
          <p:nvPr/>
        </p:nvCxnSpPr>
        <p:spPr>
          <a:xfrm flipV="1">
            <a:off x="8686163" y="2599362"/>
            <a:ext cx="0" cy="5008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03BD9EB-8F57-342C-2AF3-90C0DB01DAFF}"/>
              </a:ext>
            </a:extLst>
          </p:cNvPr>
          <p:cNvSpPr txBox="1"/>
          <p:nvPr/>
        </p:nvSpPr>
        <p:spPr>
          <a:xfrm>
            <a:off x="2066400" y="2079360"/>
            <a:ext cx="3174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 err="1"/>
              <a:t>LLMs</a:t>
            </a:r>
            <a:r>
              <a:rPr lang="es-MX" i="1" dirty="0"/>
              <a:t> </a:t>
            </a:r>
          </a:p>
          <a:p>
            <a:endParaRPr lang="es-CL" i="1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51FA0EC-BBA4-8736-B906-12D00573738E}"/>
              </a:ext>
            </a:extLst>
          </p:cNvPr>
          <p:cNvSpPr txBox="1"/>
          <p:nvPr/>
        </p:nvSpPr>
        <p:spPr>
          <a:xfrm>
            <a:off x="4340414" y="2079360"/>
            <a:ext cx="3174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 err="1"/>
              <a:t>LLMs</a:t>
            </a:r>
            <a:r>
              <a:rPr lang="es-MX" i="1" dirty="0"/>
              <a:t> + RAG </a:t>
            </a:r>
          </a:p>
          <a:p>
            <a:endParaRPr lang="es-CL" i="1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756C130-D3DB-2680-5232-D38A63E8D693}"/>
              </a:ext>
            </a:extLst>
          </p:cNvPr>
          <p:cNvSpPr txBox="1"/>
          <p:nvPr/>
        </p:nvSpPr>
        <p:spPr>
          <a:xfrm>
            <a:off x="8201785" y="2159141"/>
            <a:ext cx="31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Agentes</a:t>
            </a:r>
            <a:endParaRPr lang="es-CL" i="1" dirty="0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DE1E991F-4C2E-33E6-61F6-7208846AA4D6}"/>
              </a:ext>
            </a:extLst>
          </p:cNvPr>
          <p:cNvSpPr/>
          <p:nvPr/>
        </p:nvSpPr>
        <p:spPr>
          <a:xfrm>
            <a:off x="4488972" y="3389732"/>
            <a:ext cx="1068512" cy="4609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Context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FA89C52A-D42D-8CBD-B251-6AA87182BF98}"/>
              </a:ext>
            </a:extLst>
          </p:cNvPr>
          <p:cNvSpPr/>
          <p:nvPr/>
        </p:nvSpPr>
        <p:spPr>
          <a:xfrm>
            <a:off x="4488972" y="4140228"/>
            <a:ext cx="1068512" cy="4609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LLM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5865916D-8C04-A13F-233F-295BD8979611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3653757" y="4370723"/>
            <a:ext cx="83521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3922FC26-71D1-8D49-D82C-E988E4708FD3}"/>
              </a:ext>
            </a:extLst>
          </p:cNvPr>
          <p:cNvCxnSpPr>
            <a:stCxn id="34" idx="0"/>
            <a:endCxn id="33" idx="2"/>
          </p:cNvCxnSpPr>
          <p:nvPr/>
        </p:nvCxnSpPr>
        <p:spPr>
          <a:xfrm flipV="1">
            <a:off x="5023228" y="3850723"/>
            <a:ext cx="0" cy="28950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7DCCA74F-4184-B5B0-645F-149824A6F08D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5023228" y="4601219"/>
            <a:ext cx="0" cy="566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E90AFE64-FDCA-F352-FC69-C4F83A2BE684}"/>
              </a:ext>
            </a:extLst>
          </p:cNvPr>
          <p:cNvSpPr txBox="1"/>
          <p:nvPr/>
        </p:nvSpPr>
        <p:spPr>
          <a:xfrm>
            <a:off x="1071519" y="3955562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Input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C4E9FC0-0A2E-8962-A6FE-DD07D443C43C}"/>
              </a:ext>
            </a:extLst>
          </p:cNvPr>
          <p:cNvSpPr txBox="1"/>
          <p:nvPr/>
        </p:nvSpPr>
        <p:spPr>
          <a:xfrm>
            <a:off x="-24938" y="4573322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Output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0F0CDE5E-C747-14A6-0ED6-EE03C2A2DB72}"/>
              </a:ext>
            </a:extLst>
          </p:cNvPr>
          <p:cNvSpPr/>
          <p:nvPr/>
        </p:nvSpPr>
        <p:spPr>
          <a:xfrm>
            <a:off x="7441497" y="3400887"/>
            <a:ext cx="1068512" cy="4609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Tools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D37E70B1-BF0A-E59A-4716-F95CB11B48DA}"/>
              </a:ext>
            </a:extLst>
          </p:cNvPr>
          <p:cNvSpPr/>
          <p:nvPr/>
        </p:nvSpPr>
        <p:spPr>
          <a:xfrm>
            <a:off x="8170963" y="4142253"/>
            <a:ext cx="1068512" cy="4609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LLM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A0AE2FE7-57A4-F598-AC10-264976471897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7335748" y="4372748"/>
            <a:ext cx="83521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66A559D5-23F3-DD00-8A5C-4A035E3939F4}"/>
              </a:ext>
            </a:extLst>
          </p:cNvPr>
          <p:cNvCxnSpPr>
            <a:stCxn id="49" idx="0"/>
            <a:endCxn id="48" idx="2"/>
          </p:cNvCxnSpPr>
          <p:nvPr/>
        </p:nvCxnSpPr>
        <p:spPr>
          <a:xfrm flipH="1" flipV="1">
            <a:off x="7975753" y="3861878"/>
            <a:ext cx="729466" cy="28037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7809A08A-765A-4A37-F339-459A58D8546B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8705219" y="4603244"/>
            <a:ext cx="0" cy="566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F228650-D307-480D-33BE-C2DFAED3A1F3}"/>
              </a:ext>
            </a:extLst>
          </p:cNvPr>
          <p:cNvSpPr txBox="1"/>
          <p:nvPr/>
        </p:nvSpPr>
        <p:spPr>
          <a:xfrm>
            <a:off x="6094288" y="469490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Output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DE9E4AFC-0BF7-06B7-4A6D-7C31A90CF239}"/>
              </a:ext>
            </a:extLst>
          </p:cNvPr>
          <p:cNvSpPr/>
          <p:nvPr/>
        </p:nvSpPr>
        <p:spPr>
          <a:xfrm>
            <a:off x="8992914" y="3400887"/>
            <a:ext cx="1356149" cy="4609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Memoria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DBF18EBB-90E3-E7C8-9598-6B2B4989A661}"/>
              </a:ext>
            </a:extLst>
          </p:cNvPr>
          <p:cNvCxnSpPr>
            <a:cxnSpLocks/>
            <a:stCxn id="49" idx="0"/>
            <a:endCxn id="54" idx="2"/>
          </p:cNvCxnSpPr>
          <p:nvPr/>
        </p:nvCxnSpPr>
        <p:spPr>
          <a:xfrm flipV="1">
            <a:off x="8705219" y="3861878"/>
            <a:ext cx="965770" cy="28037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9BAEF3CE-5106-DE9F-2EE1-3BC2E5B5FA06}"/>
              </a:ext>
            </a:extLst>
          </p:cNvPr>
          <p:cNvSpPr txBox="1"/>
          <p:nvPr/>
        </p:nvSpPr>
        <p:spPr>
          <a:xfrm>
            <a:off x="4664030" y="3944407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Input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1EFE823F-1221-E60A-9D0A-006C3D45F49B}"/>
              </a:ext>
            </a:extLst>
          </p:cNvPr>
          <p:cNvSpPr/>
          <p:nvPr/>
        </p:nvSpPr>
        <p:spPr>
          <a:xfrm>
            <a:off x="1955406" y="4060107"/>
            <a:ext cx="1068512" cy="4609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LLM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799ABD8C-E121-67E6-05C8-5F4073407743}"/>
              </a:ext>
            </a:extLst>
          </p:cNvPr>
          <p:cNvSpPr txBox="1"/>
          <p:nvPr/>
        </p:nvSpPr>
        <p:spPr>
          <a:xfrm>
            <a:off x="-1607838" y="3898357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Input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1FA63CAC-8529-E9A8-302F-1888BD9273FA}"/>
              </a:ext>
            </a:extLst>
          </p:cNvPr>
          <p:cNvSpPr txBox="1"/>
          <p:nvPr/>
        </p:nvSpPr>
        <p:spPr>
          <a:xfrm>
            <a:off x="2564697" y="4845278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Output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F9658090-16CC-EB15-C9BC-ACC92BD5DEFF}"/>
              </a:ext>
            </a:extLst>
          </p:cNvPr>
          <p:cNvCxnSpPr>
            <a:cxnSpLocks/>
          </p:cNvCxnSpPr>
          <p:nvPr/>
        </p:nvCxnSpPr>
        <p:spPr>
          <a:xfrm>
            <a:off x="1107229" y="4286723"/>
            <a:ext cx="83521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2D11779D-258C-CAF5-8E7D-B8044926B42A}"/>
              </a:ext>
            </a:extLst>
          </p:cNvPr>
          <p:cNvCxnSpPr>
            <a:cxnSpLocks/>
          </p:cNvCxnSpPr>
          <p:nvPr/>
        </p:nvCxnSpPr>
        <p:spPr>
          <a:xfrm>
            <a:off x="2476140" y="4573322"/>
            <a:ext cx="0" cy="566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94DDFAE3-02F6-7175-B984-BEAB10559C36}"/>
              </a:ext>
            </a:extLst>
          </p:cNvPr>
          <p:cNvCxnSpPr/>
          <p:nvPr/>
        </p:nvCxnSpPr>
        <p:spPr>
          <a:xfrm>
            <a:off x="3509920" y="3120774"/>
            <a:ext cx="0" cy="2716584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16313F05-12AF-1ECC-4938-1B21C9041239}"/>
              </a:ext>
            </a:extLst>
          </p:cNvPr>
          <p:cNvCxnSpPr/>
          <p:nvPr/>
        </p:nvCxnSpPr>
        <p:spPr>
          <a:xfrm>
            <a:off x="6806214" y="3110500"/>
            <a:ext cx="0" cy="2716584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314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0660-89BC-2F9C-C041-66BEBF13B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497CB-9265-11BD-FAAB-1EF5946B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¿Qué es RAG?: </a:t>
            </a:r>
            <a:r>
              <a:rPr lang="es-CL" sz="3600" i="1" dirty="0" err="1"/>
              <a:t>Retrieval-Augmented</a:t>
            </a:r>
            <a:r>
              <a:rPr lang="es-CL" sz="3600" i="1" dirty="0"/>
              <a:t> </a:t>
            </a:r>
            <a:r>
              <a:rPr lang="es-CL" sz="3600" i="1" dirty="0" err="1"/>
              <a:t>Generation</a:t>
            </a:r>
            <a:r>
              <a:rPr lang="es-MX" sz="3600" i="1" dirty="0"/>
              <a:t> 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9D19C15E-6B94-337F-E13F-78B193C2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ilindro 2">
            <a:extLst>
              <a:ext uri="{FF2B5EF4-FFF2-40B4-BE49-F238E27FC236}">
                <a16:creationId xmlns:a16="http://schemas.microsoft.com/office/drawing/2014/main" id="{333FB336-1120-7DE1-BC7C-6289624DFEED}"/>
              </a:ext>
            </a:extLst>
          </p:cNvPr>
          <p:cNvSpPr/>
          <p:nvPr/>
        </p:nvSpPr>
        <p:spPr>
          <a:xfrm>
            <a:off x="3287730" y="1405648"/>
            <a:ext cx="1489753" cy="154112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External</a:t>
            </a:r>
            <a:r>
              <a:rPr lang="es-MX" dirty="0"/>
              <a:t> </a:t>
            </a:r>
            <a:r>
              <a:rPr lang="es-MX" dirty="0" err="1"/>
              <a:t>Memory</a:t>
            </a:r>
            <a:endParaRPr lang="es-CL" dirty="0"/>
          </a:p>
        </p:txBody>
      </p:sp>
      <p:pic>
        <p:nvPicPr>
          <p:cNvPr id="6" name="Gráfico 5" descr="Perfil de hombre">
            <a:extLst>
              <a:ext uri="{FF2B5EF4-FFF2-40B4-BE49-F238E27FC236}">
                <a16:creationId xmlns:a16="http://schemas.microsoft.com/office/drawing/2014/main" id="{8175A12E-B47C-B8B1-F10B-1556D9BF4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700" y="4220307"/>
            <a:ext cx="914400" cy="914400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B71B191-0AD9-C287-38AE-7092562486C6}"/>
              </a:ext>
            </a:extLst>
          </p:cNvPr>
          <p:cNvSpPr/>
          <p:nvPr/>
        </p:nvSpPr>
        <p:spPr>
          <a:xfrm>
            <a:off x="3287730" y="4220307"/>
            <a:ext cx="1407558" cy="914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LLMs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506EAFC-AEDB-B9FD-EAEF-E5D2B33C1513}"/>
              </a:ext>
            </a:extLst>
          </p:cNvPr>
          <p:cNvCxnSpPr>
            <a:endCxn id="7" idx="1"/>
          </p:cNvCxnSpPr>
          <p:nvPr/>
        </p:nvCxnSpPr>
        <p:spPr>
          <a:xfrm>
            <a:off x="1699100" y="4677507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9599CC-A904-6880-F3E4-9734893B48B6}"/>
              </a:ext>
            </a:extLst>
          </p:cNvPr>
          <p:cNvSpPr txBox="1"/>
          <p:nvPr/>
        </p:nvSpPr>
        <p:spPr>
          <a:xfrm>
            <a:off x="-555441" y="4241856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Consulta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B88D2876-7584-5DFB-34BF-9E71CAB712C1}"/>
              </a:ext>
            </a:extLst>
          </p:cNvPr>
          <p:cNvCxnSpPr>
            <a:cxnSpLocks/>
          </p:cNvCxnSpPr>
          <p:nvPr/>
        </p:nvCxnSpPr>
        <p:spPr>
          <a:xfrm flipV="1">
            <a:off x="3837397" y="2968575"/>
            <a:ext cx="0" cy="12517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4AF02FA-05F8-0BDD-BF54-AE9532BD3616}"/>
              </a:ext>
            </a:extLst>
          </p:cNvPr>
          <p:cNvCxnSpPr>
            <a:cxnSpLocks/>
          </p:cNvCxnSpPr>
          <p:nvPr/>
        </p:nvCxnSpPr>
        <p:spPr>
          <a:xfrm>
            <a:off x="4202130" y="2946772"/>
            <a:ext cx="0" cy="1273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7A2E6973-B994-F1C9-2BEB-930DF5595E15}"/>
              </a:ext>
            </a:extLst>
          </p:cNvPr>
          <p:cNvCxnSpPr>
            <a:cxnSpLocks/>
          </p:cNvCxnSpPr>
          <p:nvPr/>
        </p:nvCxnSpPr>
        <p:spPr>
          <a:xfrm flipH="1">
            <a:off x="1797978" y="4941870"/>
            <a:ext cx="14897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8B54542-C825-F6C1-6C39-CE7899E8B66B}"/>
              </a:ext>
            </a:extLst>
          </p:cNvPr>
          <p:cNvSpPr txBox="1"/>
          <p:nvPr/>
        </p:nvSpPr>
        <p:spPr>
          <a:xfrm>
            <a:off x="-506002" y="5002069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Resultado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52C240E-380B-399A-5112-1278B829C029}"/>
              </a:ext>
            </a:extLst>
          </p:cNvPr>
          <p:cNvSpPr txBox="1"/>
          <p:nvPr/>
        </p:nvSpPr>
        <p:spPr>
          <a:xfrm>
            <a:off x="1699100" y="339887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Retrieval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2AD4D51-807D-FF0B-EA8F-2D73BF5430B6}"/>
              </a:ext>
            </a:extLst>
          </p:cNvPr>
          <p:cNvSpPr txBox="1"/>
          <p:nvPr/>
        </p:nvSpPr>
        <p:spPr>
          <a:xfrm>
            <a:off x="5327150" y="1683196"/>
            <a:ext cx="60977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i="1" dirty="0"/>
              <a:t>RAG es una metodología para dotar a los </a:t>
            </a:r>
            <a:r>
              <a:rPr lang="es-MX" sz="2800" i="1" dirty="0" err="1"/>
              <a:t>LLMs</a:t>
            </a:r>
            <a:r>
              <a:rPr lang="es-MX" sz="2800" i="1" dirty="0"/>
              <a:t> con información que no tenían al momento de entrenarlos. </a:t>
            </a:r>
            <a:endParaRPr lang="es-CL" i="1" dirty="0">
              <a:solidFill>
                <a:schemeClr val="tx1"/>
              </a:solidFill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10E0715-8615-D609-81D6-3F42A9C39C7C}"/>
              </a:ext>
            </a:extLst>
          </p:cNvPr>
          <p:cNvSpPr txBox="1"/>
          <p:nvPr/>
        </p:nvSpPr>
        <p:spPr>
          <a:xfrm>
            <a:off x="5451735" y="3768205"/>
            <a:ext cx="60977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2000" b="1" i="1" dirty="0"/>
              <a:t>R</a:t>
            </a:r>
            <a:r>
              <a:rPr lang="es-CL" sz="2000" b="1" i="1" dirty="0" err="1"/>
              <a:t>etrieval</a:t>
            </a:r>
            <a:r>
              <a:rPr lang="es-CL" sz="2000" b="1" i="1" dirty="0"/>
              <a:t> (Recuperar): </a:t>
            </a:r>
            <a:r>
              <a:rPr lang="es-CL" sz="2000" i="1" dirty="0"/>
              <a:t>Encontrar las fuentes relevantes a la pregunta.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2000" b="1" i="1" dirty="0"/>
              <a:t>Aumentar (</a:t>
            </a:r>
            <a:r>
              <a:rPr lang="es-CL" sz="2000" b="1" i="1" dirty="0" err="1"/>
              <a:t>Augment</a:t>
            </a:r>
            <a:r>
              <a:rPr lang="es-CL" sz="2000" b="1" i="1" dirty="0"/>
              <a:t>): </a:t>
            </a:r>
            <a:r>
              <a:rPr lang="es-CL" sz="2000" i="1" dirty="0"/>
              <a:t>La información recuperada se inyecta al </a:t>
            </a:r>
            <a:r>
              <a:rPr lang="es-CL" sz="2000" i="1" dirty="0" err="1"/>
              <a:t>prompt</a:t>
            </a:r>
            <a:r>
              <a:rPr lang="es-CL" sz="2000" i="1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2000" b="1" i="1" dirty="0"/>
              <a:t>Generar (Generative): </a:t>
            </a:r>
            <a:r>
              <a:rPr lang="es-CL" sz="2000" i="1" dirty="0"/>
              <a:t>El LLM produce una respuesta en base a la información dada.</a:t>
            </a:r>
            <a:endParaRPr lang="es-MX" sz="2000" i="1" dirty="0"/>
          </a:p>
        </p:txBody>
      </p:sp>
    </p:spTree>
    <p:extLst>
      <p:ext uri="{BB962C8B-B14F-4D97-AF65-F5344CB8AC3E}">
        <p14:creationId xmlns:p14="http://schemas.microsoft.com/office/powerpoint/2010/main" val="1564295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4A8E4-697B-60E8-65C8-B84140A8E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4567A-6CD0-D476-2486-386DD5ABD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 err="1"/>
              <a:t>Retrieval</a:t>
            </a:r>
            <a:r>
              <a:rPr lang="es-MX" sz="3600" b="1" i="1" dirty="0"/>
              <a:t>: </a:t>
            </a:r>
            <a:r>
              <a:rPr lang="es-MX" sz="3600" i="1" dirty="0"/>
              <a:t>Dos caminos, mismo objetivo.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E31F9D2D-C0ED-F4EE-FB47-34F46AAC4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2F1DF67B-F006-7FB0-D3B6-BD664A27359D}"/>
              </a:ext>
            </a:extLst>
          </p:cNvPr>
          <p:cNvCxnSpPr/>
          <p:nvPr/>
        </p:nvCxnSpPr>
        <p:spPr>
          <a:xfrm>
            <a:off x="5845995" y="1446087"/>
            <a:ext cx="0" cy="4448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9535A39-8401-1CFF-F505-CB62CECEA01D}"/>
              </a:ext>
            </a:extLst>
          </p:cNvPr>
          <p:cNvSpPr txBox="1"/>
          <p:nvPr/>
        </p:nvSpPr>
        <p:spPr>
          <a:xfrm>
            <a:off x="131216" y="1446087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/>
              <a:t>Term</a:t>
            </a:r>
            <a:r>
              <a:rPr lang="es-MX" b="1" i="1" dirty="0"/>
              <a:t> base </a:t>
            </a:r>
            <a:r>
              <a:rPr lang="es-MX" b="1" i="1" dirty="0" err="1"/>
              <a:t>retrieval</a:t>
            </a:r>
            <a:r>
              <a:rPr lang="es-MX" b="1" i="1" dirty="0"/>
              <a:t> 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540A692-F91A-0031-BB36-3EB646E288C6}"/>
              </a:ext>
            </a:extLst>
          </p:cNvPr>
          <p:cNvSpPr txBox="1"/>
          <p:nvPr/>
        </p:nvSpPr>
        <p:spPr>
          <a:xfrm>
            <a:off x="5633565" y="1429092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/>
              <a:t>Embedding</a:t>
            </a:r>
            <a:r>
              <a:rPr lang="es-MX" b="1" i="1" dirty="0"/>
              <a:t> base </a:t>
            </a:r>
            <a:r>
              <a:rPr lang="es-MX" b="1" i="1" dirty="0" err="1"/>
              <a:t>retrieval</a:t>
            </a:r>
            <a:r>
              <a:rPr lang="es-MX" b="1" i="1" dirty="0"/>
              <a:t> 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285A1F0-31B6-E68A-D3B0-52E21C3927E0}"/>
              </a:ext>
            </a:extLst>
          </p:cNvPr>
          <p:cNvSpPr txBox="1"/>
          <p:nvPr/>
        </p:nvSpPr>
        <p:spPr>
          <a:xfrm>
            <a:off x="515427" y="2054614"/>
            <a:ext cx="49476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1" dirty="0" err="1">
                <a:solidFill>
                  <a:schemeClr val="tx1"/>
                </a:solidFill>
              </a:rPr>
              <a:t>Term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Frecuency</a:t>
            </a:r>
            <a:r>
              <a:rPr lang="es-MX" b="1" i="1" dirty="0">
                <a:solidFill>
                  <a:schemeClr val="tx1"/>
                </a:solidFill>
              </a:rPr>
              <a:t>  (TF)</a:t>
            </a:r>
            <a:r>
              <a:rPr lang="es-MX" i="1" dirty="0">
                <a:solidFill>
                  <a:schemeClr val="tx1"/>
                </a:solidFill>
              </a:rPr>
              <a:t>:  </a:t>
            </a:r>
            <a:r>
              <a:rPr lang="es-MX" dirty="0">
                <a:solidFill>
                  <a:schemeClr val="tx1"/>
                </a:solidFill>
              </a:rPr>
              <a:t>Numero de veces que un termino aparece en un document</a:t>
            </a:r>
            <a:r>
              <a:rPr lang="es-MX" dirty="0"/>
              <a:t>o.  Si el termino aparece más veces, es más relevante.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EA002E3-ABC2-A6D0-21F8-4043B22DAFA5}"/>
              </a:ext>
            </a:extLst>
          </p:cNvPr>
          <p:cNvSpPr txBox="1"/>
          <p:nvPr/>
        </p:nvSpPr>
        <p:spPr>
          <a:xfrm>
            <a:off x="515427" y="3096687"/>
            <a:ext cx="50315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1" dirty="0">
                <a:solidFill>
                  <a:schemeClr val="tx1"/>
                </a:solidFill>
              </a:rPr>
              <a:t>Inverse </a:t>
            </a:r>
            <a:r>
              <a:rPr lang="es-MX" b="1" i="1" dirty="0" err="1">
                <a:solidFill>
                  <a:schemeClr val="tx1"/>
                </a:solidFill>
              </a:rPr>
              <a:t>document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frecuency</a:t>
            </a:r>
            <a:r>
              <a:rPr lang="es-MX" b="1" i="1" dirty="0">
                <a:solidFill>
                  <a:schemeClr val="tx1"/>
                </a:solidFill>
              </a:rPr>
              <a:t> (IDF) </a:t>
            </a:r>
            <a:r>
              <a:rPr lang="es-MX" i="1" dirty="0">
                <a:solidFill>
                  <a:schemeClr val="tx1"/>
                </a:solidFill>
              </a:rPr>
              <a:t>:  </a:t>
            </a:r>
            <a:r>
              <a:rPr lang="es-MX" dirty="0">
                <a:solidFill>
                  <a:schemeClr val="tx1"/>
                </a:solidFill>
              </a:rPr>
              <a:t>La importancia de un termino es inversamente proporcional a la cantidad de documentos donde aparece el termino</a:t>
            </a:r>
            <a:r>
              <a:rPr lang="es-MX" dirty="0"/>
              <a:t>.</a:t>
            </a:r>
            <a:endParaRPr lang="es-CL" dirty="0">
              <a:solidFill>
                <a:schemeClr val="tx1"/>
              </a:solidFill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3ADE4D25-0A9E-95D2-185B-96839AC7532C}"/>
              </a:ext>
            </a:extLst>
          </p:cNvPr>
          <p:cNvCxnSpPr>
            <a:cxnSpLocks/>
          </p:cNvCxnSpPr>
          <p:nvPr/>
        </p:nvCxnSpPr>
        <p:spPr>
          <a:xfrm>
            <a:off x="2815119" y="4109663"/>
            <a:ext cx="0" cy="6575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A3E4EBC-6EFE-6BD0-A921-09ED3E5CD64B}"/>
              </a:ext>
            </a:extLst>
          </p:cNvPr>
          <p:cNvSpPr txBox="1"/>
          <p:nvPr/>
        </p:nvSpPr>
        <p:spPr>
          <a:xfrm>
            <a:off x="299352" y="4856855"/>
            <a:ext cx="5031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solidFill>
                  <a:schemeClr val="tx1"/>
                </a:solidFill>
              </a:rPr>
              <a:t>Las soluciones más típicas a este tipo de </a:t>
            </a:r>
            <a:r>
              <a:rPr lang="es-MX" i="1" dirty="0" err="1">
                <a:solidFill>
                  <a:schemeClr val="tx1"/>
                </a:solidFill>
              </a:rPr>
              <a:t>retrieval</a:t>
            </a:r>
            <a:r>
              <a:rPr lang="es-MX" i="1" dirty="0">
                <a:solidFill>
                  <a:schemeClr val="tx1"/>
                </a:solidFill>
              </a:rPr>
              <a:t> son: </a:t>
            </a:r>
            <a:r>
              <a:rPr lang="es-MX" b="1" i="1" dirty="0" err="1">
                <a:solidFill>
                  <a:schemeClr val="tx1"/>
                </a:solidFill>
              </a:rPr>
              <a:t>ElasticSearch</a:t>
            </a:r>
            <a:r>
              <a:rPr lang="es-MX" i="1" dirty="0">
                <a:solidFill>
                  <a:schemeClr val="tx1"/>
                </a:solidFill>
              </a:rPr>
              <a:t> y </a:t>
            </a:r>
            <a:r>
              <a:rPr lang="es-MX" b="1" i="1" dirty="0">
                <a:solidFill>
                  <a:schemeClr val="tx1"/>
                </a:solidFill>
              </a:rPr>
              <a:t>BM25</a:t>
            </a:r>
            <a:r>
              <a:rPr lang="es-MX" i="1" dirty="0">
                <a:solidFill>
                  <a:schemeClr val="tx1"/>
                </a:solidFill>
              </a:rPr>
              <a:t>.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E152251-79D8-9037-1D24-80E3F22DC661}"/>
              </a:ext>
            </a:extLst>
          </p:cNvPr>
          <p:cNvSpPr txBox="1"/>
          <p:nvPr/>
        </p:nvSpPr>
        <p:spPr>
          <a:xfrm>
            <a:off x="431522" y="5604047"/>
            <a:ext cx="5031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Esta solución se enfoca en el lexical </a:t>
            </a:r>
            <a:r>
              <a:rPr lang="es-MX" b="1" i="1" dirty="0" err="1">
                <a:solidFill>
                  <a:schemeClr val="tx1"/>
                </a:solidFill>
              </a:rPr>
              <a:t>level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27A5C64-CCB5-7753-F5E4-0593F3D71F75}"/>
              </a:ext>
            </a:extLst>
          </p:cNvPr>
          <p:cNvSpPr txBox="1"/>
          <p:nvPr/>
        </p:nvSpPr>
        <p:spPr>
          <a:xfrm>
            <a:off x="6361103" y="5611752"/>
            <a:ext cx="5031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Esta solución se enfoca</a:t>
            </a:r>
            <a:r>
              <a:rPr lang="es-MX" b="1" i="1" dirty="0"/>
              <a:t> en el </a:t>
            </a:r>
            <a:r>
              <a:rPr lang="es-MX" b="1" i="1" dirty="0" err="1"/>
              <a:t>semantic</a:t>
            </a:r>
            <a:r>
              <a:rPr lang="es-MX" b="1" i="1" dirty="0"/>
              <a:t> </a:t>
            </a:r>
            <a:r>
              <a:rPr lang="es-MX" b="1" i="1" dirty="0" err="1"/>
              <a:t>level</a:t>
            </a:r>
            <a:r>
              <a:rPr lang="es-MX" b="1" i="1" dirty="0"/>
              <a:t>.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58D382F-77A8-5EC1-8CD6-1D85C2528BBB}"/>
              </a:ext>
            </a:extLst>
          </p:cNvPr>
          <p:cNvSpPr txBox="1"/>
          <p:nvPr/>
        </p:nvSpPr>
        <p:spPr>
          <a:xfrm>
            <a:off x="6445010" y="1992167"/>
            <a:ext cx="49476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Transforma la información en vectores, se encuentran los más parecidos, y luego se inyectan al modelo de lenguaje como parte del </a:t>
            </a:r>
            <a:r>
              <a:rPr lang="es-MX" dirty="0" err="1"/>
              <a:t>prompt</a:t>
            </a:r>
            <a:r>
              <a:rPr lang="es-MX" dirty="0"/>
              <a:t>. </a:t>
            </a:r>
          </a:p>
          <a:p>
            <a:endParaRPr lang="es-MX" dirty="0">
              <a:solidFill>
                <a:schemeClr val="tx1"/>
              </a:solidFill>
            </a:endParaRPr>
          </a:p>
          <a:p>
            <a:r>
              <a:rPr lang="es-MX" dirty="0"/>
              <a:t>Los vectores son capaces de capturar la representación semántica del texto. </a:t>
            </a:r>
          </a:p>
          <a:p>
            <a:endParaRPr lang="es-MX" dirty="0">
              <a:solidFill>
                <a:schemeClr val="tx1"/>
              </a:solidFill>
            </a:endParaRPr>
          </a:p>
        </p:txBody>
      </p:sp>
      <p:pic>
        <p:nvPicPr>
          <p:cNvPr id="3076" name="Picture 4" descr="On word embeddings - Part 1">
            <a:extLst>
              <a:ext uri="{FF2B5EF4-FFF2-40B4-BE49-F238E27FC236}">
                <a16:creationId xmlns:a16="http://schemas.microsoft.com/office/drawing/2014/main" id="{82BB6274-A8DC-1551-D581-885168FD8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4554" y="3836638"/>
            <a:ext cx="1944633" cy="1592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579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93F36-0E15-F7E2-CE8C-03C86E84C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8B0FE-0856-F72B-E978-B19D63CE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¿Qué pasaría si solo usamos </a:t>
            </a:r>
            <a:r>
              <a:rPr lang="es-MX" sz="3600" b="1" i="1" dirty="0" err="1"/>
              <a:t>term</a:t>
            </a:r>
            <a:r>
              <a:rPr lang="es-MX" sz="3600" b="1" i="1" dirty="0"/>
              <a:t> base?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CA9DD5B3-6FA0-DE50-B7E1-5CDA569C2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áfico 2" descr="Perfil de hombre">
            <a:extLst>
              <a:ext uri="{FF2B5EF4-FFF2-40B4-BE49-F238E27FC236}">
                <a16:creationId xmlns:a16="http://schemas.microsoft.com/office/drawing/2014/main" id="{4E797F51-11CA-1479-E29F-41B8C00E5C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0080" y="2986949"/>
            <a:ext cx="914400" cy="914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84C13AD-B915-5F28-C1A6-B13BB44393C4}"/>
              </a:ext>
            </a:extLst>
          </p:cNvPr>
          <p:cNvSpPr txBox="1"/>
          <p:nvPr/>
        </p:nvSpPr>
        <p:spPr>
          <a:xfrm>
            <a:off x="1643229" y="280228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Consulta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8BD5FA9-8C7F-6C63-6C72-B43195FF0F16}"/>
              </a:ext>
            </a:extLst>
          </p:cNvPr>
          <p:cNvCxnSpPr/>
          <p:nvPr/>
        </p:nvCxnSpPr>
        <p:spPr>
          <a:xfrm>
            <a:off x="4000511" y="3421491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798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816B-775E-6C7A-EAC8-78523DF3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526D0-1CBE-5F70-4334-F5EDB325A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¿Qué pasaría si solo usamos </a:t>
            </a:r>
            <a:r>
              <a:rPr lang="es-MX" sz="3600" b="1" i="1" dirty="0" err="1"/>
              <a:t>term</a:t>
            </a:r>
            <a:r>
              <a:rPr lang="es-MX" sz="3600" b="1" i="1" dirty="0"/>
              <a:t> base?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E7182D9E-587C-E442-9CD7-8901BA3B4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áfico 2" descr="Perfil de hombre">
            <a:extLst>
              <a:ext uri="{FF2B5EF4-FFF2-40B4-BE49-F238E27FC236}">
                <a16:creationId xmlns:a16="http://schemas.microsoft.com/office/drawing/2014/main" id="{E89C2753-8B47-1868-1B6A-719CCA43D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0080" y="2986949"/>
            <a:ext cx="914400" cy="914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45B2BE2-5D0A-636D-9EEE-F0A9FA261E8E}"/>
              </a:ext>
            </a:extLst>
          </p:cNvPr>
          <p:cNvSpPr txBox="1"/>
          <p:nvPr/>
        </p:nvSpPr>
        <p:spPr>
          <a:xfrm>
            <a:off x="1643229" y="280228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Consulta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F2FF5AB-930C-3D9B-1049-0A25B96DF560}"/>
              </a:ext>
            </a:extLst>
          </p:cNvPr>
          <p:cNvCxnSpPr/>
          <p:nvPr/>
        </p:nvCxnSpPr>
        <p:spPr>
          <a:xfrm>
            <a:off x="4000511" y="3421491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ilindro 7">
            <a:extLst>
              <a:ext uri="{FF2B5EF4-FFF2-40B4-BE49-F238E27FC236}">
                <a16:creationId xmlns:a16="http://schemas.microsoft.com/office/drawing/2014/main" id="{C396DD47-B68D-1097-3688-56489898C3E4}"/>
              </a:ext>
            </a:extLst>
          </p:cNvPr>
          <p:cNvSpPr/>
          <p:nvPr/>
        </p:nvSpPr>
        <p:spPr>
          <a:xfrm>
            <a:off x="5878113" y="2650929"/>
            <a:ext cx="1489753" cy="154112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External</a:t>
            </a:r>
            <a:r>
              <a:rPr lang="es-MX" dirty="0"/>
              <a:t> </a:t>
            </a:r>
            <a:r>
              <a:rPr lang="es-MX" dirty="0" err="1"/>
              <a:t>Memory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1365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6072B-5C02-0100-B3CD-7AA028B7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82099-7171-1A18-33E9-2399106F1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¿Qué pasaría si solo usamos </a:t>
            </a:r>
            <a:r>
              <a:rPr lang="es-MX" sz="3600" b="1" i="1" dirty="0" err="1"/>
              <a:t>term</a:t>
            </a:r>
            <a:r>
              <a:rPr lang="es-MX" sz="3600" b="1" i="1" dirty="0"/>
              <a:t> base?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6125FB17-4516-512D-51F9-2336F8036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áfico 2" descr="Perfil de hombre">
            <a:extLst>
              <a:ext uri="{FF2B5EF4-FFF2-40B4-BE49-F238E27FC236}">
                <a16:creationId xmlns:a16="http://schemas.microsoft.com/office/drawing/2014/main" id="{3DA04D0C-E32C-7B45-3490-857032499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0080" y="2986949"/>
            <a:ext cx="914400" cy="914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7DF6F08-7D2A-9711-0516-F069E5EB4241}"/>
              </a:ext>
            </a:extLst>
          </p:cNvPr>
          <p:cNvSpPr txBox="1"/>
          <p:nvPr/>
        </p:nvSpPr>
        <p:spPr>
          <a:xfrm>
            <a:off x="1643229" y="280228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Consulta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DF2CF90-7C64-6A1F-2841-26C106A13146}"/>
              </a:ext>
            </a:extLst>
          </p:cNvPr>
          <p:cNvCxnSpPr/>
          <p:nvPr/>
        </p:nvCxnSpPr>
        <p:spPr>
          <a:xfrm>
            <a:off x="4000511" y="3421491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ilindro 7">
            <a:extLst>
              <a:ext uri="{FF2B5EF4-FFF2-40B4-BE49-F238E27FC236}">
                <a16:creationId xmlns:a16="http://schemas.microsoft.com/office/drawing/2014/main" id="{CD11BDC5-91AE-DD2E-DC75-F33D6982EED6}"/>
              </a:ext>
            </a:extLst>
          </p:cNvPr>
          <p:cNvSpPr/>
          <p:nvPr/>
        </p:nvSpPr>
        <p:spPr>
          <a:xfrm>
            <a:off x="5878113" y="2650929"/>
            <a:ext cx="1489753" cy="154112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External</a:t>
            </a:r>
            <a:r>
              <a:rPr lang="es-MX" dirty="0"/>
              <a:t> </a:t>
            </a:r>
            <a:r>
              <a:rPr lang="es-MX" dirty="0" err="1"/>
              <a:t>Memory</a:t>
            </a:r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0CEC1C7-67A3-A01D-89E8-8CDE0ABEC09E}"/>
              </a:ext>
            </a:extLst>
          </p:cNvPr>
          <p:cNvSpPr txBox="1"/>
          <p:nvPr/>
        </p:nvSpPr>
        <p:spPr>
          <a:xfrm>
            <a:off x="3623572" y="3624350"/>
            <a:ext cx="22545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¿Qu</a:t>
            </a:r>
            <a:r>
              <a:rPr lang="es-MX" b="1" i="1" dirty="0"/>
              <a:t>é es la arquitectura </a:t>
            </a:r>
          </a:p>
          <a:p>
            <a:pPr algn="ctr"/>
            <a:r>
              <a:rPr lang="es-MX" b="1" i="1" dirty="0" err="1"/>
              <a:t>Transfomers</a:t>
            </a:r>
            <a:r>
              <a:rPr lang="es-MX" b="1" i="1" dirty="0"/>
              <a:t>?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312F1E0-64ED-5C24-881E-74B346F20D2E}"/>
              </a:ext>
            </a:extLst>
          </p:cNvPr>
          <p:cNvCxnSpPr>
            <a:cxnSpLocks/>
          </p:cNvCxnSpPr>
          <p:nvPr/>
        </p:nvCxnSpPr>
        <p:spPr>
          <a:xfrm flipV="1">
            <a:off x="7459038" y="2178121"/>
            <a:ext cx="1109609" cy="1243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Shop Transformers Action Figures ...">
            <a:extLst>
              <a:ext uri="{FF2B5EF4-FFF2-40B4-BE49-F238E27FC236}">
                <a16:creationId xmlns:a16="http://schemas.microsoft.com/office/drawing/2014/main" id="{7839D152-7C40-BFB9-92F8-1B2C299C9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567" y="1009393"/>
            <a:ext cx="20097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2402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83AB4-B5AD-A767-2CD8-294B6610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9B43E-4461-41E3-0BB2-5BB78DAF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¿Qué pasaría si solo usamos </a:t>
            </a:r>
            <a:r>
              <a:rPr lang="es-MX" sz="3600" b="1" i="1" dirty="0" err="1"/>
              <a:t>term</a:t>
            </a:r>
            <a:r>
              <a:rPr lang="es-MX" sz="3600" b="1" i="1" dirty="0"/>
              <a:t> base?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C9DA959-37CD-0BF4-5FAA-38876456D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áfico 2" descr="Perfil de hombre">
            <a:extLst>
              <a:ext uri="{FF2B5EF4-FFF2-40B4-BE49-F238E27FC236}">
                <a16:creationId xmlns:a16="http://schemas.microsoft.com/office/drawing/2014/main" id="{E64CB022-C396-B0A1-C0F2-363696B0F6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0080" y="2986949"/>
            <a:ext cx="914400" cy="914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78EAA11-4228-D000-D128-BC39E7E9E14F}"/>
              </a:ext>
            </a:extLst>
          </p:cNvPr>
          <p:cNvSpPr txBox="1"/>
          <p:nvPr/>
        </p:nvSpPr>
        <p:spPr>
          <a:xfrm>
            <a:off x="1643229" y="280228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Consulta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4C860A6-7AD9-638D-50AF-706C77B5F92C}"/>
              </a:ext>
            </a:extLst>
          </p:cNvPr>
          <p:cNvCxnSpPr/>
          <p:nvPr/>
        </p:nvCxnSpPr>
        <p:spPr>
          <a:xfrm>
            <a:off x="4000511" y="3421491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ilindro 7">
            <a:extLst>
              <a:ext uri="{FF2B5EF4-FFF2-40B4-BE49-F238E27FC236}">
                <a16:creationId xmlns:a16="http://schemas.microsoft.com/office/drawing/2014/main" id="{6F20247F-C546-46A6-BC71-483F956451FF}"/>
              </a:ext>
            </a:extLst>
          </p:cNvPr>
          <p:cNvSpPr/>
          <p:nvPr/>
        </p:nvSpPr>
        <p:spPr>
          <a:xfrm>
            <a:off x="5878113" y="2650929"/>
            <a:ext cx="1489753" cy="154112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External</a:t>
            </a:r>
            <a:r>
              <a:rPr lang="es-MX" dirty="0"/>
              <a:t> </a:t>
            </a:r>
            <a:r>
              <a:rPr lang="es-MX" dirty="0" err="1"/>
              <a:t>Memory</a:t>
            </a:r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09ECE41-0CA0-413F-C6BC-767C55147CB1}"/>
              </a:ext>
            </a:extLst>
          </p:cNvPr>
          <p:cNvSpPr txBox="1"/>
          <p:nvPr/>
        </p:nvSpPr>
        <p:spPr>
          <a:xfrm>
            <a:off x="3623572" y="3624350"/>
            <a:ext cx="22545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¿Qu</a:t>
            </a:r>
            <a:r>
              <a:rPr lang="es-MX" b="1" i="1" dirty="0"/>
              <a:t>é es la arquitectura </a:t>
            </a:r>
          </a:p>
          <a:p>
            <a:pPr algn="ctr"/>
            <a:r>
              <a:rPr lang="es-MX" b="1" i="1" dirty="0" err="1"/>
              <a:t>Transfomers</a:t>
            </a:r>
            <a:r>
              <a:rPr lang="es-MX" b="1" i="1" dirty="0"/>
              <a:t>?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80AD928-914C-A7FD-D8A7-0F5F0A52B593}"/>
              </a:ext>
            </a:extLst>
          </p:cNvPr>
          <p:cNvCxnSpPr>
            <a:cxnSpLocks/>
          </p:cNvCxnSpPr>
          <p:nvPr/>
        </p:nvCxnSpPr>
        <p:spPr>
          <a:xfrm flipV="1">
            <a:off x="7459038" y="2178121"/>
            <a:ext cx="1109609" cy="1243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Shop Transformers Action Figures ...">
            <a:extLst>
              <a:ext uri="{FF2B5EF4-FFF2-40B4-BE49-F238E27FC236}">
                <a16:creationId xmlns:a16="http://schemas.microsoft.com/office/drawing/2014/main" id="{7B132821-09A5-97C3-3E5F-146C504F6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567" y="1009393"/>
            <a:ext cx="20097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6E67153-2E2E-2260-0FC4-07740E017309}"/>
              </a:ext>
            </a:extLst>
          </p:cNvPr>
          <p:cNvCxnSpPr>
            <a:cxnSpLocks/>
          </p:cNvCxnSpPr>
          <p:nvPr/>
        </p:nvCxnSpPr>
        <p:spPr>
          <a:xfrm>
            <a:off x="7458840" y="3564571"/>
            <a:ext cx="1181726" cy="1140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Revolutionary Transformer Architecture ...">
            <a:extLst>
              <a:ext uri="{FF2B5EF4-FFF2-40B4-BE49-F238E27FC236}">
                <a16:creationId xmlns:a16="http://schemas.microsoft.com/office/drawing/2014/main" id="{5C422A32-AE3D-50BE-1FA6-96776724F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854" y="3738055"/>
            <a:ext cx="2566662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764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89C8F-3A12-95E8-D6BA-1C7A339E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31E30-BF93-ADE6-E853-FAE9B692B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¿Qué pasaría si solo usamos </a:t>
            </a:r>
            <a:r>
              <a:rPr lang="es-MX" sz="3600" b="1" i="1" dirty="0" err="1"/>
              <a:t>term</a:t>
            </a:r>
            <a:r>
              <a:rPr lang="es-MX" sz="3600" b="1" i="1" dirty="0"/>
              <a:t> base?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EB5685A4-E5AC-A79B-862C-27BED6604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áfico 2" descr="Perfil de hombre">
            <a:extLst>
              <a:ext uri="{FF2B5EF4-FFF2-40B4-BE49-F238E27FC236}">
                <a16:creationId xmlns:a16="http://schemas.microsoft.com/office/drawing/2014/main" id="{F9336DBD-9357-A7DE-7C65-92D67A82D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0080" y="2986949"/>
            <a:ext cx="914400" cy="914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B063354-A755-B329-B7D7-1BE1C5C371F2}"/>
              </a:ext>
            </a:extLst>
          </p:cNvPr>
          <p:cNvSpPr txBox="1"/>
          <p:nvPr/>
        </p:nvSpPr>
        <p:spPr>
          <a:xfrm>
            <a:off x="1643229" y="280228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Consulta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DE93E79-0D1D-406E-6817-6B3C4FD70624}"/>
              </a:ext>
            </a:extLst>
          </p:cNvPr>
          <p:cNvCxnSpPr/>
          <p:nvPr/>
        </p:nvCxnSpPr>
        <p:spPr>
          <a:xfrm>
            <a:off x="4000511" y="3421491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ilindro 7">
            <a:extLst>
              <a:ext uri="{FF2B5EF4-FFF2-40B4-BE49-F238E27FC236}">
                <a16:creationId xmlns:a16="http://schemas.microsoft.com/office/drawing/2014/main" id="{AB577C69-4310-C270-D90C-5E2A42B34EFE}"/>
              </a:ext>
            </a:extLst>
          </p:cNvPr>
          <p:cNvSpPr/>
          <p:nvPr/>
        </p:nvSpPr>
        <p:spPr>
          <a:xfrm>
            <a:off x="5878113" y="2650929"/>
            <a:ext cx="1489753" cy="154112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External</a:t>
            </a:r>
            <a:r>
              <a:rPr lang="es-MX" dirty="0"/>
              <a:t> </a:t>
            </a:r>
            <a:r>
              <a:rPr lang="es-MX" dirty="0" err="1"/>
              <a:t>Memory</a:t>
            </a:r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F93C8BD-8D76-2D72-C85B-672675AE89DA}"/>
              </a:ext>
            </a:extLst>
          </p:cNvPr>
          <p:cNvSpPr txBox="1"/>
          <p:nvPr/>
        </p:nvSpPr>
        <p:spPr>
          <a:xfrm>
            <a:off x="3623572" y="3624350"/>
            <a:ext cx="22545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¿Qu</a:t>
            </a:r>
            <a:r>
              <a:rPr lang="es-MX" b="1" i="1" dirty="0"/>
              <a:t>é es la arquitectura </a:t>
            </a:r>
          </a:p>
          <a:p>
            <a:pPr algn="ctr"/>
            <a:r>
              <a:rPr lang="es-MX" b="1" i="1" dirty="0" err="1"/>
              <a:t>Transfomers</a:t>
            </a:r>
            <a:r>
              <a:rPr lang="es-MX" b="1" i="1" dirty="0"/>
              <a:t>?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62281E1-DD2D-FFEE-52B4-8FA585614BF5}"/>
              </a:ext>
            </a:extLst>
          </p:cNvPr>
          <p:cNvCxnSpPr>
            <a:cxnSpLocks/>
          </p:cNvCxnSpPr>
          <p:nvPr/>
        </p:nvCxnSpPr>
        <p:spPr>
          <a:xfrm flipV="1">
            <a:off x="7459038" y="2178121"/>
            <a:ext cx="1109609" cy="1243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Shop Transformers Action Figures ...">
            <a:extLst>
              <a:ext uri="{FF2B5EF4-FFF2-40B4-BE49-F238E27FC236}">
                <a16:creationId xmlns:a16="http://schemas.microsoft.com/office/drawing/2014/main" id="{D82E0D02-1B3C-5FEB-F3E5-866B2247B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567" y="1009393"/>
            <a:ext cx="20097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C497810-8B4F-601B-346E-C6B2442344BF}"/>
              </a:ext>
            </a:extLst>
          </p:cNvPr>
          <p:cNvCxnSpPr>
            <a:cxnSpLocks/>
          </p:cNvCxnSpPr>
          <p:nvPr/>
        </p:nvCxnSpPr>
        <p:spPr>
          <a:xfrm>
            <a:off x="7458840" y="3564571"/>
            <a:ext cx="1181726" cy="1140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Revolutionary Transformer Architecture ...">
            <a:extLst>
              <a:ext uri="{FF2B5EF4-FFF2-40B4-BE49-F238E27FC236}">
                <a16:creationId xmlns:a16="http://schemas.microsoft.com/office/drawing/2014/main" id="{69E39376-D2C0-0BE1-5A37-C6D910714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854" y="3738055"/>
            <a:ext cx="2566662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17897BDB-4BA0-42D4-8305-14D866CF23B6}"/>
              </a:ext>
            </a:extLst>
          </p:cNvPr>
          <p:cNvCxnSpPr>
            <a:cxnSpLocks/>
          </p:cNvCxnSpPr>
          <p:nvPr/>
        </p:nvCxnSpPr>
        <p:spPr>
          <a:xfrm>
            <a:off x="6622989" y="4317451"/>
            <a:ext cx="0" cy="1158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B7ECAD4-C771-2B47-B126-DD8FB118473D}"/>
              </a:ext>
            </a:extLst>
          </p:cNvPr>
          <p:cNvSpPr txBox="1"/>
          <p:nvPr/>
        </p:nvSpPr>
        <p:spPr>
          <a:xfrm>
            <a:off x="3448153" y="5592123"/>
            <a:ext cx="61671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El </a:t>
            </a:r>
            <a:r>
              <a:rPr lang="es-MX" b="1" i="1" dirty="0" err="1"/>
              <a:t>LLMs</a:t>
            </a:r>
            <a:r>
              <a:rPr lang="es-MX" b="1" i="1" dirty="0"/>
              <a:t> seria alimentado tanto con la información de la arquitectura de los </a:t>
            </a:r>
            <a:r>
              <a:rPr lang="es-MX" b="1" i="1" dirty="0" err="1"/>
              <a:t>LLMs</a:t>
            </a:r>
            <a:r>
              <a:rPr lang="es-MX" b="1" i="1" dirty="0"/>
              <a:t>, junto con la película de Transformers. </a:t>
            </a:r>
            <a:endParaRPr lang="es-CL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390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B42E6-FD59-7D5D-2F13-D0B1846A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9204E-121A-6330-8D6C-245348E44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¿Qué pasaría si solo usamos </a:t>
            </a:r>
            <a:r>
              <a:rPr lang="es-MX" sz="3600" b="1" i="1" dirty="0" err="1"/>
              <a:t>term</a:t>
            </a:r>
            <a:r>
              <a:rPr lang="es-MX" sz="3600" b="1" i="1" dirty="0"/>
              <a:t> base?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A409DB7F-1F2F-3C30-39C0-92B681F01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áfico 2" descr="Perfil de hombre">
            <a:extLst>
              <a:ext uri="{FF2B5EF4-FFF2-40B4-BE49-F238E27FC236}">
                <a16:creationId xmlns:a16="http://schemas.microsoft.com/office/drawing/2014/main" id="{8A138AFD-8146-9F3F-3153-46EA9BBF4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0080" y="2986949"/>
            <a:ext cx="914400" cy="9144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9F59139-0051-0EF5-ECE9-0329825EA867}"/>
              </a:ext>
            </a:extLst>
          </p:cNvPr>
          <p:cNvSpPr txBox="1"/>
          <p:nvPr/>
        </p:nvSpPr>
        <p:spPr>
          <a:xfrm>
            <a:off x="1643229" y="280228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/>
              <a:t>Consulta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774C90A-5063-944F-D487-1F42893943CE}"/>
              </a:ext>
            </a:extLst>
          </p:cNvPr>
          <p:cNvCxnSpPr/>
          <p:nvPr/>
        </p:nvCxnSpPr>
        <p:spPr>
          <a:xfrm>
            <a:off x="4000511" y="3421491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ilindro 7">
            <a:extLst>
              <a:ext uri="{FF2B5EF4-FFF2-40B4-BE49-F238E27FC236}">
                <a16:creationId xmlns:a16="http://schemas.microsoft.com/office/drawing/2014/main" id="{8F1BE248-76D7-F693-24A5-9F0BA3840D4D}"/>
              </a:ext>
            </a:extLst>
          </p:cNvPr>
          <p:cNvSpPr/>
          <p:nvPr/>
        </p:nvSpPr>
        <p:spPr>
          <a:xfrm>
            <a:off x="5878113" y="2650929"/>
            <a:ext cx="1489753" cy="154112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External</a:t>
            </a:r>
            <a:r>
              <a:rPr lang="es-MX" dirty="0"/>
              <a:t> </a:t>
            </a:r>
            <a:r>
              <a:rPr lang="es-MX" dirty="0" err="1"/>
              <a:t>Memory</a:t>
            </a:r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0FB954-847A-06F7-F26F-37671A85ABF8}"/>
              </a:ext>
            </a:extLst>
          </p:cNvPr>
          <p:cNvSpPr txBox="1"/>
          <p:nvPr/>
        </p:nvSpPr>
        <p:spPr>
          <a:xfrm>
            <a:off x="3623572" y="3624350"/>
            <a:ext cx="22545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¿Qu</a:t>
            </a:r>
            <a:r>
              <a:rPr lang="es-MX" b="1" i="1" dirty="0"/>
              <a:t>é es la arquitectura </a:t>
            </a:r>
          </a:p>
          <a:p>
            <a:pPr algn="ctr"/>
            <a:r>
              <a:rPr lang="es-MX" b="1" i="1" dirty="0" err="1"/>
              <a:t>Transfomers</a:t>
            </a:r>
            <a:r>
              <a:rPr lang="es-MX" b="1" i="1" dirty="0"/>
              <a:t>?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682906D-837C-6D4E-0D96-2A4DCE4AB741}"/>
              </a:ext>
            </a:extLst>
          </p:cNvPr>
          <p:cNvCxnSpPr>
            <a:cxnSpLocks/>
          </p:cNvCxnSpPr>
          <p:nvPr/>
        </p:nvCxnSpPr>
        <p:spPr>
          <a:xfrm flipV="1">
            <a:off x="7459038" y="2178121"/>
            <a:ext cx="1109609" cy="1243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Shop Transformers Action Figures ...">
            <a:extLst>
              <a:ext uri="{FF2B5EF4-FFF2-40B4-BE49-F238E27FC236}">
                <a16:creationId xmlns:a16="http://schemas.microsoft.com/office/drawing/2014/main" id="{1FCDB9EF-1E5F-8A0E-235C-3DF53AD4A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567" y="1009393"/>
            <a:ext cx="20097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313B54D-EDB7-69AA-FB24-B43DD5C18B8E}"/>
              </a:ext>
            </a:extLst>
          </p:cNvPr>
          <p:cNvCxnSpPr>
            <a:cxnSpLocks/>
          </p:cNvCxnSpPr>
          <p:nvPr/>
        </p:nvCxnSpPr>
        <p:spPr>
          <a:xfrm>
            <a:off x="7458840" y="3564571"/>
            <a:ext cx="1181726" cy="1140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Revolutionary Transformer Architecture ...">
            <a:extLst>
              <a:ext uri="{FF2B5EF4-FFF2-40B4-BE49-F238E27FC236}">
                <a16:creationId xmlns:a16="http://schemas.microsoft.com/office/drawing/2014/main" id="{A68FDBDE-22E4-013F-B2A1-565DDFC86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854" y="3738055"/>
            <a:ext cx="2566662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0B4D865A-4162-DAA9-C3BE-5142623C1613}"/>
              </a:ext>
            </a:extLst>
          </p:cNvPr>
          <p:cNvCxnSpPr>
            <a:cxnSpLocks/>
          </p:cNvCxnSpPr>
          <p:nvPr/>
        </p:nvCxnSpPr>
        <p:spPr>
          <a:xfrm>
            <a:off x="6622989" y="4317451"/>
            <a:ext cx="0" cy="1158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D62470B-E896-E807-E6A2-6801B37D665E}"/>
              </a:ext>
            </a:extLst>
          </p:cNvPr>
          <p:cNvSpPr txBox="1"/>
          <p:nvPr/>
        </p:nvSpPr>
        <p:spPr>
          <a:xfrm>
            <a:off x="3539397" y="5521710"/>
            <a:ext cx="6167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Hybrid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Search</a:t>
            </a:r>
            <a:r>
              <a:rPr lang="es-MX" b="1" i="1" dirty="0">
                <a:solidFill>
                  <a:schemeClr val="tx1"/>
                </a:solidFill>
              </a:rPr>
              <a:t>: </a:t>
            </a:r>
          </a:p>
          <a:p>
            <a:pPr algn="ctr"/>
            <a:r>
              <a:rPr lang="es-MX" dirty="0">
                <a:solidFill>
                  <a:schemeClr val="tx1"/>
                </a:solidFill>
              </a:rPr>
              <a:t>Lo mejor de los dos mundos</a:t>
            </a:r>
            <a:r>
              <a:rPr lang="es-MX" b="1" i="1" dirty="0">
                <a:solidFill>
                  <a:schemeClr val="tx1"/>
                </a:solidFill>
              </a:rPr>
              <a:t>.</a:t>
            </a:r>
            <a:endParaRPr lang="es-CL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444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C9961-ABD8-F6BC-2999-3EC894DAC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E9ED3-909F-81ED-1046-DEA16BA7F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Arquitectura de RAG: </a:t>
            </a:r>
            <a:endParaRPr lang="es-CL" sz="3600" b="1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31D54EDE-9488-74FD-5284-ACAD02C07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áfico 10" descr="Perfil de hombre">
            <a:extLst>
              <a:ext uri="{FF2B5EF4-FFF2-40B4-BE49-F238E27FC236}">
                <a16:creationId xmlns:a16="http://schemas.microsoft.com/office/drawing/2014/main" id="{AF4D4D7E-54DB-8B9F-08CE-F77BC72D68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3747" y="2309454"/>
            <a:ext cx="914400" cy="914400"/>
          </a:xfrm>
          <a:prstGeom prst="rect">
            <a:avLst/>
          </a:prstGeom>
        </p:spPr>
      </p:pic>
      <p:sp>
        <p:nvSpPr>
          <p:cNvPr id="14" name="Cilindro 13">
            <a:extLst>
              <a:ext uri="{FF2B5EF4-FFF2-40B4-BE49-F238E27FC236}">
                <a16:creationId xmlns:a16="http://schemas.microsoft.com/office/drawing/2014/main" id="{DD83BECD-7EF4-BD8E-4289-B61CC0DB515F}"/>
              </a:ext>
            </a:extLst>
          </p:cNvPr>
          <p:cNvSpPr/>
          <p:nvPr/>
        </p:nvSpPr>
        <p:spPr>
          <a:xfrm>
            <a:off x="6791217" y="2223538"/>
            <a:ext cx="1155205" cy="108622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Vector DB</a:t>
            </a:r>
            <a:endParaRPr lang="es-CL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E909EDA-15A3-20E2-CA78-164ED0442B86}"/>
              </a:ext>
            </a:extLst>
          </p:cNvPr>
          <p:cNvSpPr txBox="1"/>
          <p:nvPr/>
        </p:nvSpPr>
        <p:spPr>
          <a:xfrm>
            <a:off x="1928336" y="2252026"/>
            <a:ext cx="180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User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Query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D621F25B-0CFC-2BC0-1CCF-8FB3A41EE38F}"/>
              </a:ext>
            </a:extLst>
          </p:cNvPr>
          <p:cNvCxnSpPr/>
          <p:nvPr/>
        </p:nvCxnSpPr>
        <p:spPr>
          <a:xfrm>
            <a:off x="2038147" y="2766654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19C68D52-FAD5-A6F5-CD99-BE22324FD680}"/>
              </a:ext>
            </a:extLst>
          </p:cNvPr>
          <p:cNvCxnSpPr/>
          <p:nvPr/>
        </p:nvCxnSpPr>
        <p:spPr>
          <a:xfrm>
            <a:off x="5147573" y="2766653"/>
            <a:ext cx="1588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650B29BB-597E-F678-CF57-D59E426BD3EA}"/>
              </a:ext>
            </a:extLst>
          </p:cNvPr>
          <p:cNvSpPr/>
          <p:nvPr/>
        </p:nvSpPr>
        <p:spPr>
          <a:xfrm>
            <a:off x="3736588" y="2348923"/>
            <a:ext cx="1465148" cy="8749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>
                <a:solidFill>
                  <a:schemeClr val="tx1"/>
                </a:solidFill>
              </a:rPr>
              <a:t>Emebdding</a:t>
            </a:r>
            <a:r>
              <a:rPr lang="es-MX" dirty="0">
                <a:solidFill>
                  <a:schemeClr val="tx1"/>
                </a:solidFill>
              </a:rPr>
              <a:t> </a:t>
            </a:r>
            <a:r>
              <a:rPr lang="es-MX" dirty="0" err="1">
                <a:solidFill>
                  <a:schemeClr val="tx1"/>
                </a:solidFill>
              </a:rPr>
              <a:t>Model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18DB63E-0974-C572-538C-38182884C05E}"/>
              </a:ext>
            </a:extLst>
          </p:cNvPr>
          <p:cNvSpPr txBox="1"/>
          <p:nvPr/>
        </p:nvSpPr>
        <p:spPr>
          <a:xfrm>
            <a:off x="5064844" y="2058330"/>
            <a:ext cx="1808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Embedding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Query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32368B6F-4D1B-DE67-54F0-E00CD0242324}"/>
              </a:ext>
            </a:extLst>
          </p:cNvPr>
          <p:cNvCxnSpPr>
            <a:cxnSpLocks/>
            <a:endCxn id="14" idx="4"/>
          </p:cNvCxnSpPr>
          <p:nvPr/>
        </p:nvCxnSpPr>
        <p:spPr>
          <a:xfrm flipH="1">
            <a:off x="7946422" y="2766652"/>
            <a:ext cx="78661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áfico 27" descr="Documento">
            <a:extLst>
              <a:ext uri="{FF2B5EF4-FFF2-40B4-BE49-F238E27FC236}">
                <a16:creationId xmlns:a16="http://schemas.microsoft.com/office/drawing/2014/main" id="{9FE5EB06-2817-5556-316E-ECF644F71A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3198" y="2309444"/>
            <a:ext cx="914400" cy="914400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9C58B510-A846-F06C-47CE-DB876D2E475E}"/>
              </a:ext>
            </a:extLst>
          </p:cNvPr>
          <p:cNvSpPr txBox="1"/>
          <p:nvPr/>
        </p:nvSpPr>
        <p:spPr>
          <a:xfrm>
            <a:off x="8325684" y="2473521"/>
            <a:ext cx="1808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Index</a:t>
            </a:r>
            <a:r>
              <a:rPr lang="es-MX" b="1" i="1" dirty="0">
                <a:solidFill>
                  <a:schemeClr val="tx1"/>
                </a:solidFill>
              </a:rPr>
              <a:t> &amp;</a:t>
            </a:r>
          </a:p>
          <a:p>
            <a:pPr algn="ctr"/>
            <a:r>
              <a:rPr lang="es-MX" b="1" i="1" dirty="0" err="1"/>
              <a:t>Splitter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C1099DC9-8777-C415-3C23-24CA81132952}"/>
              </a:ext>
            </a:extLst>
          </p:cNvPr>
          <p:cNvCxnSpPr>
            <a:cxnSpLocks/>
          </p:cNvCxnSpPr>
          <p:nvPr/>
        </p:nvCxnSpPr>
        <p:spPr>
          <a:xfrm flipH="1">
            <a:off x="9740630" y="2704661"/>
            <a:ext cx="78661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6DD539E-895E-5FDD-9FD7-95B9DCB2CD6D}"/>
              </a:ext>
            </a:extLst>
          </p:cNvPr>
          <p:cNvSpPr txBox="1"/>
          <p:nvPr/>
        </p:nvSpPr>
        <p:spPr>
          <a:xfrm>
            <a:off x="10077675" y="1940112"/>
            <a:ext cx="180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File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F22DFD7C-37A2-0E2A-5745-7879957D993A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368820" y="3309767"/>
            <a:ext cx="0" cy="8615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428847F5-F64C-6E74-2D8E-39DDCA68CB73}"/>
              </a:ext>
            </a:extLst>
          </p:cNvPr>
          <p:cNvSpPr/>
          <p:nvPr/>
        </p:nvSpPr>
        <p:spPr>
          <a:xfrm>
            <a:off x="6669957" y="4299301"/>
            <a:ext cx="1465148" cy="8749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>
                <a:solidFill>
                  <a:schemeClr val="tx1"/>
                </a:solidFill>
              </a:rPr>
              <a:t>Retriever</a:t>
            </a:r>
            <a:endParaRPr lang="es-CL" dirty="0">
              <a:solidFill>
                <a:schemeClr val="tx1"/>
              </a:solidFill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30C4B0BB-3748-35D2-C09E-A02CB955982B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4972692" y="4736762"/>
            <a:ext cx="1697265" cy="197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A4F5E913-2778-F8A0-7096-57056F58A8D2}"/>
              </a:ext>
            </a:extLst>
          </p:cNvPr>
          <p:cNvSpPr/>
          <p:nvPr/>
        </p:nvSpPr>
        <p:spPr>
          <a:xfrm>
            <a:off x="3507544" y="4309165"/>
            <a:ext cx="1465148" cy="8749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Generative </a:t>
            </a:r>
            <a:r>
              <a:rPr lang="es-MX" dirty="0" err="1">
                <a:solidFill>
                  <a:schemeClr val="tx1"/>
                </a:solidFill>
              </a:rPr>
              <a:t>Model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F9E05E5D-9456-76C9-6690-3F342EA3535A}"/>
              </a:ext>
            </a:extLst>
          </p:cNvPr>
          <p:cNvSpPr txBox="1"/>
          <p:nvPr/>
        </p:nvSpPr>
        <p:spPr>
          <a:xfrm>
            <a:off x="4900774" y="3995865"/>
            <a:ext cx="1808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Context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relevant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to</a:t>
            </a:r>
            <a:r>
              <a:rPr lang="es-MX" b="1" i="1" dirty="0">
                <a:solidFill>
                  <a:schemeClr val="tx1"/>
                </a:solidFill>
              </a:rPr>
              <a:t> </a:t>
            </a:r>
            <a:r>
              <a:rPr lang="es-MX" b="1" i="1" dirty="0" err="1">
                <a:solidFill>
                  <a:schemeClr val="tx1"/>
                </a:solidFill>
              </a:rPr>
              <a:t>query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C8A6D77F-2F2A-96D1-59A7-9A2EE90240D6}"/>
              </a:ext>
            </a:extLst>
          </p:cNvPr>
          <p:cNvCxnSpPr>
            <a:stCxn id="42" idx="1"/>
          </p:cNvCxnSpPr>
          <p:nvPr/>
        </p:nvCxnSpPr>
        <p:spPr>
          <a:xfrm flipH="1" flipV="1">
            <a:off x="1928336" y="3223844"/>
            <a:ext cx="1579208" cy="15227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223853B-207D-532F-FE29-B73C27C7237E}"/>
              </a:ext>
            </a:extLst>
          </p:cNvPr>
          <p:cNvSpPr txBox="1"/>
          <p:nvPr/>
        </p:nvSpPr>
        <p:spPr>
          <a:xfrm>
            <a:off x="1350735" y="3995865"/>
            <a:ext cx="180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Response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5C78DF5E-880F-A2B1-5FF9-6F45FA1303EF}"/>
              </a:ext>
            </a:extLst>
          </p:cNvPr>
          <p:cNvSpPr txBox="1"/>
          <p:nvPr/>
        </p:nvSpPr>
        <p:spPr>
          <a:xfrm>
            <a:off x="8426838" y="3626533"/>
            <a:ext cx="32240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1" dirty="0"/>
              <a:t>1.Embedding </a:t>
            </a:r>
            <a:r>
              <a:rPr lang="es-MX" b="1" i="1" dirty="0" err="1"/>
              <a:t>Model</a:t>
            </a:r>
            <a:r>
              <a:rPr lang="es-MX" b="1" i="1" dirty="0"/>
              <a:t>: </a:t>
            </a:r>
            <a:r>
              <a:rPr lang="es-MX" dirty="0"/>
              <a:t>Se</a:t>
            </a:r>
            <a:r>
              <a:rPr lang="es-MX" b="1" i="1" dirty="0"/>
              <a:t> </a:t>
            </a:r>
            <a:r>
              <a:rPr lang="es-MX" dirty="0"/>
              <a:t>convierte la consulta del usuario en un </a:t>
            </a:r>
            <a:r>
              <a:rPr lang="es-MX" dirty="0" err="1"/>
              <a:t>embedding</a:t>
            </a:r>
            <a:r>
              <a:rPr lang="es-MX" dirty="0"/>
              <a:t>.</a:t>
            </a:r>
          </a:p>
          <a:p>
            <a:r>
              <a:rPr lang="es-MX" b="1" i="1" dirty="0"/>
              <a:t>2.Retriever: </a:t>
            </a:r>
            <a:r>
              <a:rPr lang="es-MX" dirty="0"/>
              <a:t>Se obtiene </a:t>
            </a:r>
            <a:r>
              <a:rPr lang="es-MX" i="1" dirty="0"/>
              <a:t>k</a:t>
            </a:r>
            <a:r>
              <a:rPr lang="es-MX" dirty="0"/>
              <a:t> data </a:t>
            </a:r>
            <a:r>
              <a:rPr lang="es-MX" dirty="0" err="1"/>
              <a:t>chunks</a:t>
            </a:r>
            <a:r>
              <a:rPr lang="es-MX" dirty="0"/>
              <a:t> con los </a:t>
            </a:r>
            <a:r>
              <a:rPr lang="es-MX" dirty="0" err="1"/>
              <a:t>embeddings</a:t>
            </a:r>
            <a:r>
              <a:rPr lang="es-MX" dirty="0"/>
              <a:t> más cercanos a la </a:t>
            </a:r>
            <a:r>
              <a:rPr lang="es-MX" dirty="0" err="1"/>
              <a:t>query</a:t>
            </a:r>
            <a:r>
              <a:rPr lang="es-MX" dirty="0"/>
              <a:t> del usuario.</a:t>
            </a:r>
            <a:endParaRPr lang="es-C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83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52EDD-2ED0-C56B-365B-5C3085D7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F43D0-86C8-471A-AD65-B7D4FABE3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Divide and </a:t>
            </a:r>
            <a:r>
              <a:rPr lang="es-MX" sz="3600" b="1" i="1" dirty="0" err="1"/>
              <a:t>Conquer</a:t>
            </a:r>
            <a:r>
              <a:rPr lang="es-MX" sz="3600" b="1" i="1" dirty="0"/>
              <a:t>: </a:t>
            </a:r>
            <a:r>
              <a:rPr lang="es-MX" sz="3600" i="1" dirty="0"/>
              <a:t>Divide el texto en fragmentos.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C454249B-0B84-6CEB-467E-E12A45C8E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hunking Strategies for RAG and LLMs ...">
            <a:extLst>
              <a:ext uri="{FF2B5EF4-FFF2-40B4-BE49-F238E27FC236}">
                <a16:creationId xmlns:a16="http://schemas.microsoft.com/office/drawing/2014/main" id="{F6DDB325-8CC4-325E-F40A-1B72FE89E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32" y="1727878"/>
            <a:ext cx="5872954" cy="3402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42771D6-7522-6443-B1B1-1C7A22878D73}"/>
              </a:ext>
            </a:extLst>
          </p:cNvPr>
          <p:cNvSpPr txBox="1"/>
          <p:nvPr/>
        </p:nvSpPr>
        <p:spPr>
          <a:xfrm>
            <a:off x="6696182" y="3388530"/>
            <a:ext cx="523211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1. </a:t>
            </a:r>
            <a:r>
              <a:rPr lang="es-MX" b="1" dirty="0" err="1"/>
              <a:t>Chunk</a:t>
            </a:r>
            <a:r>
              <a:rPr lang="es-MX" b="1" dirty="0"/>
              <a:t> </a:t>
            </a:r>
            <a:r>
              <a:rPr lang="es-MX" b="1" dirty="0" err="1"/>
              <a:t>size</a:t>
            </a:r>
            <a:r>
              <a:rPr lang="es-MX" dirty="0"/>
              <a:t> — el tamaño de cada fragmento (medido en tokens o caracteres). Define cuánto texto va en cada </a:t>
            </a:r>
            <a:r>
              <a:rPr lang="es-MX" dirty="0" err="1"/>
              <a:t>chunk</a:t>
            </a:r>
            <a:r>
              <a:rPr lang="es-MX" dirty="0"/>
              <a:t>. Si es muy grande pierdes precisión en el </a:t>
            </a:r>
            <a:r>
              <a:rPr lang="es-MX" dirty="0" err="1"/>
              <a:t>retrieval</a:t>
            </a:r>
            <a:r>
              <a:rPr lang="es-MX" dirty="0"/>
              <a:t>; si es muy pequeño pierdes contexto.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b="1" dirty="0"/>
              <a:t>2. </a:t>
            </a:r>
            <a:r>
              <a:rPr lang="es-MX" b="1" dirty="0" err="1"/>
              <a:t>Chunk</a:t>
            </a:r>
            <a:r>
              <a:rPr lang="es-MX" b="1" dirty="0"/>
              <a:t> </a:t>
            </a:r>
            <a:r>
              <a:rPr lang="es-MX" b="1" dirty="0" err="1"/>
              <a:t>overlap</a:t>
            </a:r>
            <a:r>
              <a:rPr lang="es-MX" dirty="0"/>
              <a:t> — cuántos tokens/caracteres se repiten entre un </a:t>
            </a:r>
            <a:r>
              <a:rPr lang="es-MX" dirty="0" err="1"/>
              <a:t>chunk</a:t>
            </a:r>
            <a:r>
              <a:rPr lang="es-MX" dirty="0"/>
              <a:t> y el siguiente. Sirve para evitar que una idea importante quede cortada justo en el borde entre dos </a:t>
            </a:r>
            <a:r>
              <a:rPr lang="es-MX" dirty="0" err="1"/>
              <a:t>chunks</a:t>
            </a:r>
            <a:r>
              <a:rPr lang="es-MX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29503C7-71B7-DCFA-0D37-79601FADDA52}"/>
              </a:ext>
            </a:extLst>
          </p:cNvPr>
          <p:cNvSpPr txBox="1"/>
          <p:nvPr/>
        </p:nvSpPr>
        <p:spPr>
          <a:xfrm>
            <a:off x="6418778" y="1945765"/>
            <a:ext cx="53656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i="1" dirty="0"/>
              <a:t>Los archivos son divididos en </a:t>
            </a:r>
            <a:r>
              <a:rPr lang="es-MX" sz="2000" b="1" i="1" dirty="0" err="1"/>
              <a:t>chunks</a:t>
            </a:r>
            <a:r>
              <a:rPr lang="es-MX" sz="2000" b="1" i="1" dirty="0"/>
              <a:t>, </a:t>
            </a:r>
            <a:r>
              <a:rPr lang="es-MX" sz="2000" i="1" dirty="0"/>
              <a:t>lo que permite localizar y recuperar únicamente la información relevante para cada consulta.</a:t>
            </a:r>
            <a:endParaRPr lang="es-CL" sz="2000" i="1" dirty="0"/>
          </a:p>
        </p:txBody>
      </p:sp>
    </p:spTree>
    <p:extLst>
      <p:ext uri="{BB962C8B-B14F-4D97-AF65-F5344CB8AC3E}">
        <p14:creationId xmlns:p14="http://schemas.microsoft.com/office/powerpoint/2010/main" val="1435785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95229-056D-F7B0-594B-07A32165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B6BD3-1561-E2CE-C998-E3872D71E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Los </a:t>
            </a:r>
            <a:r>
              <a:rPr lang="es-MX" sz="3600" b="1" i="1" dirty="0" err="1"/>
              <a:t>LLMs</a:t>
            </a:r>
            <a:r>
              <a:rPr lang="es-MX" sz="3600" b="1" i="1" dirty="0"/>
              <a:t> se pierden con infinito contexto</a:t>
            </a:r>
            <a:r>
              <a:rPr lang="es-MX" sz="3600" i="1" dirty="0"/>
              <a:t>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D13B566C-D55E-FDA2-A1DF-0C57DB93C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F772840-25C2-1DE4-2096-5248952BB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13" y="1231064"/>
            <a:ext cx="5525237" cy="47246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9C65BEB-E51A-1E09-3886-75E71D5FFBBE}"/>
              </a:ext>
            </a:extLst>
          </p:cNvPr>
          <p:cNvSpPr txBox="1"/>
          <p:nvPr/>
        </p:nvSpPr>
        <p:spPr>
          <a:xfrm>
            <a:off x="490591" y="6257229"/>
            <a:ext cx="6097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i="1" dirty="0"/>
              <a:t>https://arxiv.org/pdf/2307.03172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8E75747-08B4-297A-ABCF-4512C4F76E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135" y="1381825"/>
            <a:ext cx="5492778" cy="472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27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4F195-0693-66F1-E28D-9D43380E2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44F99-8E42-AE2D-C49A-398517BA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13" y="19310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Similitud de Coseno: </a:t>
            </a:r>
            <a:r>
              <a:rPr lang="es-MX" sz="3600" i="1" dirty="0"/>
              <a:t>“Cercanía” en los </a:t>
            </a:r>
            <a:r>
              <a:rPr lang="es-MX" sz="3600" i="1" dirty="0" err="1"/>
              <a:t>chunks</a:t>
            </a:r>
            <a:r>
              <a:rPr lang="es-MX" sz="3600" i="1" dirty="0"/>
              <a:t>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88C819FF-E8E8-D932-C3D7-2B41D9BFD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NLP 101 : Similitud Por Coseno">
            <a:extLst>
              <a:ext uri="{FF2B5EF4-FFF2-40B4-BE49-F238E27FC236}">
                <a16:creationId xmlns:a16="http://schemas.microsoft.com/office/drawing/2014/main" id="{509EE0DD-69E8-62A1-83E4-B5B9E748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12" y="1518663"/>
            <a:ext cx="6777080" cy="420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5234D7C-02B1-4E5C-157D-C56AD2A05573}"/>
              </a:ext>
            </a:extLst>
          </p:cNvPr>
          <p:cNvSpPr txBox="1"/>
          <p:nvPr/>
        </p:nvSpPr>
        <p:spPr>
          <a:xfrm>
            <a:off x="7168791" y="1368141"/>
            <a:ext cx="440289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similitud de coseno es la manera para determinar algebraicamente si dos vectores son similares o no. </a:t>
            </a:r>
          </a:p>
          <a:p>
            <a:endParaRPr lang="es-MX" dirty="0"/>
          </a:p>
          <a:p>
            <a:r>
              <a:rPr lang="es-MX" dirty="0"/>
              <a:t>El resultado va de </a:t>
            </a:r>
            <a:r>
              <a:rPr lang="es-MX" b="1" dirty="0"/>
              <a:t>-1 a 1</a:t>
            </a:r>
            <a:r>
              <a:rPr lang="es-MX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/>
              <a:t>  1</a:t>
            </a:r>
            <a:r>
              <a:rPr lang="es-MX" dirty="0"/>
              <a:t> = vectores idénticos (misma  dirección)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/>
              <a:t>0</a:t>
            </a:r>
            <a:r>
              <a:rPr lang="es-MX" dirty="0"/>
              <a:t> = vectores perpendiculares (sin relación)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/>
              <a:t>-1</a:t>
            </a:r>
            <a:r>
              <a:rPr lang="es-MX" dirty="0"/>
              <a:t> = vectores opuestos</a:t>
            </a:r>
          </a:p>
          <a:p>
            <a:endParaRPr lang="es-MX" dirty="0"/>
          </a:p>
          <a:p>
            <a:r>
              <a:rPr lang="es-MX" dirty="0"/>
              <a:t>Los </a:t>
            </a:r>
            <a:r>
              <a:rPr lang="es-MX" dirty="0" err="1"/>
              <a:t>embeddings</a:t>
            </a:r>
            <a:r>
              <a:rPr lang="es-MX" dirty="0"/>
              <a:t> de texto producen vectores cuyos valores de similitud coseno van de 0 a 1 en la práctica, donde valores cercanos a 1 indican mayor similitud semántica entre los textos comparados.</a:t>
            </a:r>
            <a:endParaRPr lang="es-MX" i="1" dirty="0"/>
          </a:p>
          <a:p>
            <a:pPr algn="ctr"/>
            <a:endParaRPr lang="es-CL" sz="2000" i="1" dirty="0"/>
          </a:p>
        </p:txBody>
      </p:sp>
    </p:spTree>
    <p:extLst>
      <p:ext uri="{BB962C8B-B14F-4D97-AF65-F5344CB8AC3E}">
        <p14:creationId xmlns:p14="http://schemas.microsoft.com/office/powerpoint/2010/main" val="1041873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539C1-8FAA-7F04-DF2D-6A6AF94B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2F8BA-2DB6-3DDF-44D3-6A85D1A2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542" y="2576704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i="1" dirty="0"/>
              <a:t>¿Qué falta aquí?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7BC56528-ED7A-AA7A-3DA6-09B6CC5E1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729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FE625-29D4-7057-108E-8CC27D419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EF4DC-CDC7-0AE4-8F0A-FEF742D33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542" y="2576704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i="1" dirty="0"/>
              <a:t>¿Qué falta aquí?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EE7716A8-B85E-80D5-EF71-11A2798F3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DD04AB4-8B92-4491-0C80-EF53E0199D67}"/>
              </a:ext>
            </a:extLst>
          </p:cNvPr>
          <p:cNvSpPr txBox="1"/>
          <p:nvPr/>
        </p:nvSpPr>
        <p:spPr>
          <a:xfrm>
            <a:off x="1342061" y="3830348"/>
            <a:ext cx="95078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 b="1" i="1" dirty="0"/>
              <a:t>Lo que se mide, se gestiona. </a:t>
            </a:r>
            <a:r>
              <a:rPr lang="es-CL" sz="3200" i="1" dirty="0"/>
              <a:t>Peter Drucker (1909-2005)</a:t>
            </a:r>
            <a:endParaRPr lang="es-CL" sz="3200" b="1" i="1" dirty="0"/>
          </a:p>
        </p:txBody>
      </p:sp>
    </p:spTree>
    <p:extLst>
      <p:ext uri="{BB962C8B-B14F-4D97-AF65-F5344CB8AC3E}">
        <p14:creationId xmlns:p14="http://schemas.microsoft.com/office/powerpoint/2010/main" val="2099377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7AFD9-D561-CC77-9AF0-08DF9440B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DA39D-D3D0-89FC-4AAC-0CDC5A781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263" y="443181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Control: </a:t>
            </a:r>
            <a:r>
              <a:rPr lang="es-MX" sz="3600" i="1" dirty="0"/>
              <a:t>Métricas de Recuperación y Generación.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5A94D1B1-1CD7-D3A7-2D1D-65827A074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75135C9-CC76-D80D-3367-806919D1370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3256036" y="2751233"/>
            <a:ext cx="862934" cy="690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3273BEB-4B52-DB22-BFF9-3F92F18D3E77}"/>
              </a:ext>
            </a:extLst>
          </p:cNvPr>
          <p:cNvSpPr/>
          <p:nvPr/>
        </p:nvSpPr>
        <p:spPr>
          <a:xfrm>
            <a:off x="3386396" y="1876312"/>
            <a:ext cx="1465148" cy="8749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>
                <a:solidFill>
                  <a:schemeClr val="tx1"/>
                </a:solidFill>
              </a:rPr>
              <a:t>Retrieval</a:t>
            </a:r>
            <a:endParaRPr lang="es-CL" dirty="0">
              <a:solidFill>
                <a:schemeClr val="tx1"/>
              </a:solidFill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77AF827-34B2-8BD1-C4F0-7E7848FF192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118970" y="2751233"/>
            <a:ext cx="732574" cy="6161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EC7A163-E9E4-5ED2-DE90-84EDC12CDDE2}"/>
              </a:ext>
            </a:extLst>
          </p:cNvPr>
          <p:cNvSpPr txBox="1"/>
          <p:nvPr/>
        </p:nvSpPr>
        <p:spPr>
          <a:xfrm>
            <a:off x="2122673" y="3626154"/>
            <a:ext cx="180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Recall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DCC7B37-7411-F184-8E75-89AAB70C9BAC}"/>
              </a:ext>
            </a:extLst>
          </p:cNvPr>
          <p:cNvSpPr txBox="1"/>
          <p:nvPr/>
        </p:nvSpPr>
        <p:spPr>
          <a:xfrm>
            <a:off x="4084943" y="3626154"/>
            <a:ext cx="180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/>
              <a:t>Precision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3F99157-07EE-C403-F03C-B6EB2FE554E4}"/>
              </a:ext>
            </a:extLst>
          </p:cNvPr>
          <p:cNvSpPr txBox="1"/>
          <p:nvPr/>
        </p:nvSpPr>
        <p:spPr>
          <a:xfrm>
            <a:off x="3882137" y="4084575"/>
            <a:ext cx="22138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solidFill>
                  <a:schemeClr val="tx1"/>
                </a:solidFill>
              </a:rPr>
              <a:t>De los documentos recuperados, ¿cuantos son realmente relevantes?</a:t>
            </a:r>
            <a:endParaRPr lang="es-CL" i="1" dirty="0">
              <a:solidFill>
                <a:schemeClr val="tx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D40F68F-7561-CC73-69F3-0B0EB65CDC78}"/>
              </a:ext>
            </a:extLst>
          </p:cNvPr>
          <p:cNvSpPr txBox="1"/>
          <p:nvPr/>
        </p:nvSpPr>
        <p:spPr>
          <a:xfrm>
            <a:off x="1724130" y="4027408"/>
            <a:ext cx="22138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solidFill>
                  <a:schemeClr val="tx1"/>
                </a:solidFill>
              </a:rPr>
              <a:t>De los documentos relevantes que existen en la base, ¿Cuántos recuperaste?</a:t>
            </a:r>
            <a:endParaRPr lang="es-CL" i="1" dirty="0">
              <a:solidFill>
                <a:schemeClr val="tx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EBF3FC1-EED3-DCB6-683D-7732F1B8B9A1}"/>
              </a:ext>
            </a:extLst>
          </p:cNvPr>
          <p:cNvSpPr txBox="1"/>
          <p:nvPr/>
        </p:nvSpPr>
        <p:spPr>
          <a:xfrm>
            <a:off x="4118970" y="5598522"/>
            <a:ext cx="1808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AI </a:t>
            </a:r>
            <a:r>
              <a:rPr lang="es-MX" b="1" i="1" dirty="0" err="1">
                <a:solidFill>
                  <a:schemeClr val="tx1"/>
                </a:solidFill>
              </a:rPr>
              <a:t>Agent</a:t>
            </a:r>
            <a:r>
              <a:rPr lang="es-MX" b="1" i="1" dirty="0">
                <a:solidFill>
                  <a:schemeClr val="tx1"/>
                </a:solidFill>
              </a:rPr>
              <a:t> podría validar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9C66186-8F96-9088-1988-9E9CD230E061}"/>
              </a:ext>
            </a:extLst>
          </p:cNvPr>
          <p:cNvSpPr txBox="1"/>
          <p:nvPr/>
        </p:nvSpPr>
        <p:spPr>
          <a:xfrm>
            <a:off x="1926935" y="5542457"/>
            <a:ext cx="1808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Etiquetar documentos</a:t>
            </a:r>
            <a:endParaRPr lang="es-CL" b="1" i="1" dirty="0">
              <a:solidFill>
                <a:schemeClr val="tx1"/>
              </a:solidFill>
            </a:endParaRP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AAD705F-EE7F-92FA-673A-E8D3A1695466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7942672" y="2751233"/>
            <a:ext cx="862934" cy="690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8B0F30E3-03B2-CB3F-E1CB-37CC042E9BBD}"/>
              </a:ext>
            </a:extLst>
          </p:cNvPr>
          <p:cNvSpPr/>
          <p:nvPr/>
        </p:nvSpPr>
        <p:spPr>
          <a:xfrm>
            <a:off x="8073032" y="1876312"/>
            <a:ext cx="1465148" cy="8749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>
                <a:solidFill>
                  <a:schemeClr val="tx1"/>
                </a:solidFill>
              </a:rPr>
              <a:t>Generation</a:t>
            </a:r>
            <a:endParaRPr lang="es-CL" dirty="0">
              <a:solidFill>
                <a:schemeClr val="tx1"/>
              </a:solidFill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11DD9BA7-7D66-96CD-3328-DF96C9A00E62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8805606" y="2751233"/>
            <a:ext cx="732574" cy="6161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ED0313D-F8CC-6C28-EA08-F1E4D0E78072}"/>
              </a:ext>
            </a:extLst>
          </p:cNvPr>
          <p:cNvSpPr txBox="1"/>
          <p:nvPr/>
        </p:nvSpPr>
        <p:spPr>
          <a:xfrm>
            <a:off x="6809309" y="3626154"/>
            <a:ext cx="180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 err="1">
                <a:solidFill>
                  <a:schemeClr val="tx1"/>
                </a:solidFill>
              </a:rPr>
              <a:t>Faithfulness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DA5307E-9D52-124A-E5BF-92EF985E3044}"/>
              </a:ext>
            </a:extLst>
          </p:cNvPr>
          <p:cNvSpPr txBox="1"/>
          <p:nvPr/>
        </p:nvSpPr>
        <p:spPr>
          <a:xfrm>
            <a:off x="8771579" y="3626154"/>
            <a:ext cx="1976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b="1" dirty="0" err="1"/>
              <a:t>Answer</a:t>
            </a:r>
            <a:r>
              <a:rPr lang="es-CL" b="1" dirty="0"/>
              <a:t> </a:t>
            </a:r>
            <a:r>
              <a:rPr lang="es-CL" b="1" dirty="0" err="1"/>
              <a:t>Relevancy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7758555-D2F8-914D-C138-29550474F40C}"/>
              </a:ext>
            </a:extLst>
          </p:cNvPr>
          <p:cNvSpPr txBox="1"/>
          <p:nvPr/>
        </p:nvSpPr>
        <p:spPr>
          <a:xfrm>
            <a:off x="8568773" y="4084575"/>
            <a:ext cx="22138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solidFill>
                  <a:schemeClr val="tx1"/>
                </a:solidFill>
              </a:rPr>
              <a:t>¿La respuesta aborda de forma directa y útil la pregunta original?</a:t>
            </a:r>
            <a:endParaRPr lang="es-CL" i="1" dirty="0">
              <a:solidFill>
                <a:schemeClr val="tx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36DF153-66DD-121B-7AEC-C3681A54B8CC}"/>
              </a:ext>
            </a:extLst>
          </p:cNvPr>
          <p:cNvSpPr txBox="1"/>
          <p:nvPr/>
        </p:nvSpPr>
        <p:spPr>
          <a:xfrm>
            <a:off x="6410766" y="4027408"/>
            <a:ext cx="22138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solidFill>
                  <a:schemeClr val="tx1"/>
                </a:solidFill>
              </a:rPr>
              <a:t>¿La pregunta se basa en el contexto proporcionado?</a:t>
            </a:r>
            <a:endParaRPr lang="es-CL" i="1" dirty="0">
              <a:solidFill>
                <a:schemeClr val="tx1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F1732EA-43A6-740C-B7DB-BEDE416C909A}"/>
              </a:ext>
            </a:extLst>
          </p:cNvPr>
          <p:cNvSpPr txBox="1"/>
          <p:nvPr/>
        </p:nvSpPr>
        <p:spPr>
          <a:xfrm>
            <a:off x="8771579" y="5561903"/>
            <a:ext cx="23303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Una respuesta puede ser fiel al contexto, pero no útil</a:t>
            </a:r>
            <a:endParaRPr lang="es-CL" b="1" i="1" dirty="0">
              <a:solidFill>
                <a:schemeClr val="tx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A034D56-093D-F3AE-7846-EAF570FFB07A}"/>
              </a:ext>
            </a:extLst>
          </p:cNvPr>
          <p:cNvSpPr txBox="1"/>
          <p:nvPr/>
        </p:nvSpPr>
        <p:spPr>
          <a:xfrm>
            <a:off x="6438693" y="5544365"/>
            <a:ext cx="21580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i="1" dirty="0">
                <a:solidFill>
                  <a:schemeClr val="tx1"/>
                </a:solidFill>
              </a:rPr>
              <a:t>Una baja indica el modelo alucinada o inventa.</a:t>
            </a:r>
            <a:endParaRPr lang="es-CL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15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890A8-9178-F869-64B4-E1C63EA27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D6549A-6F34-2486-EDE4-CC6829AFB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181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b="1" i="1" dirty="0"/>
              <a:t>RAGAS: </a:t>
            </a:r>
            <a:r>
              <a:rPr lang="es-MX" sz="3600" i="1" dirty="0"/>
              <a:t>Librería especializada para medir </a:t>
            </a:r>
            <a:r>
              <a:rPr lang="es-MX" sz="3600" i="1" dirty="0" err="1"/>
              <a:t>RAGs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161D42A9-F191-7758-2EF0-F312222D4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7FA0890-D20A-59E9-1B80-8C484BF72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379" y="1213939"/>
            <a:ext cx="9546784" cy="508925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C198B84-E9A4-3857-04F6-2BDAE891AF58}"/>
              </a:ext>
            </a:extLst>
          </p:cNvPr>
          <p:cNvSpPr txBox="1"/>
          <p:nvPr/>
        </p:nvSpPr>
        <p:spPr>
          <a:xfrm>
            <a:off x="930668" y="6387901"/>
            <a:ext cx="6097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i="1" dirty="0"/>
              <a:t>https://docs.ragas.io/en/stable/</a:t>
            </a:r>
          </a:p>
        </p:txBody>
      </p:sp>
    </p:spTree>
    <p:extLst>
      <p:ext uri="{BB962C8B-B14F-4D97-AF65-F5344CB8AC3E}">
        <p14:creationId xmlns:p14="http://schemas.microsoft.com/office/powerpoint/2010/main" val="3268311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82857-A976-3A7B-CEC9-9B4520C2C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3A64F-2AAB-2E69-EEC4-07393CD4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668" y="2319850"/>
            <a:ext cx="10515600" cy="1325563"/>
          </a:xfrm>
        </p:spPr>
        <p:txBody>
          <a:bodyPr>
            <a:noAutofit/>
          </a:bodyPr>
          <a:lstStyle/>
          <a:p>
            <a:r>
              <a:rPr lang="es-MX" sz="3600" i="1" dirty="0"/>
              <a:t>Todo parece bien, pero … como mido realmente.</a:t>
            </a:r>
            <a:br>
              <a:rPr lang="es-MX" sz="3600" i="1" dirty="0"/>
            </a:br>
            <a:r>
              <a:rPr lang="es-MX" sz="3600" i="1" dirty="0"/>
              <a:t>Necesito registros de </a:t>
            </a:r>
            <a:r>
              <a:rPr lang="es-MX" sz="3600" i="1" dirty="0" err="1"/>
              <a:t>buggs</a:t>
            </a:r>
            <a:r>
              <a:rPr lang="es-MX" sz="3600" i="1" dirty="0"/>
              <a:t>, errores, llamadas a las Tools, vector </a:t>
            </a:r>
            <a:r>
              <a:rPr lang="es-MX" sz="3600" i="1" dirty="0" err="1"/>
              <a:t>databases</a:t>
            </a:r>
            <a:r>
              <a:rPr lang="es-MX" sz="3600" i="1" dirty="0"/>
              <a:t> , etc.</a:t>
            </a:r>
            <a:endParaRPr lang="es-CL" sz="3600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80F0A978-4B23-50D7-81D3-153682747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281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3AD6D-4EE0-290A-9267-B6E6BF077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9D8FE1A4-3E9A-CB10-EE7D-A07DCBE73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65F43BB-931A-038B-D0C2-7BDE9B2F3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430" y="1537445"/>
            <a:ext cx="9841139" cy="4526372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7ED22275-3BF8-AF6B-75EA-E325DD3533A6}"/>
              </a:ext>
            </a:extLst>
          </p:cNvPr>
          <p:cNvSpPr txBox="1">
            <a:spLocks/>
          </p:cNvSpPr>
          <p:nvPr/>
        </p:nvSpPr>
        <p:spPr>
          <a:xfrm>
            <a:off x="838200" y="1211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b="1" i="1" dirty="0" err="1"/>
              <a:t>LangSmith</a:t>
            </a:r>
            <a:r>
              <a:rPr lang="es-MX" sz="3600" b="1" i="1" dirty="0"/>
              <a:t>: </a:t>
            </a:r>
            <a:r>
              <a:rPr lang="es-MX" sz="3600" i="1" dirty="0"/>
              <a:t>Todo en un lugar</a:t>
            </a:r>
            <a:r>
              <a:rPr lang="es-MX" sz="3600" b="1" i="1" dirty="0"/>
              <a:t>.</a:t>
            </a:r>
            <a:endParaRPr lang="es-CL" sz="3600" i="1" dirty="0"/>
          </a:p>
        </p:txBody>
      </p:sp>
    </p:spTree>
    <p:extLst>
      <p:ext uri="{BB962C8B-B14F-4D97-AF65-F5344CB8AC3E}">
        <p14:creationId xmlns:p14="http://schemas.microsoft.com/office/powerpoint/2010/main" val="30206494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3267</TotalTime>
  <Words>966</Words>
  <Application>Microsoft Office PowerPoint</Application>
  <PresentationFormat>Panorámica</PresentationFormat>
  <Paragraphs>163</Paragraphs>
  <Slides>24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 de Office</vt:lpstr>
      <vt:lpstr>Ingeniería de soluciones con AI</vt:lpstr>
      <vt:lpstr>Presentación de PowerPoint</vt:lpstr>
      <vt:lpstr>Recapitulemos: Los LLMs como un sistema aislado. </vt:lpstr>
      <vt:lpstr>Recapitulemos: Los LLMs como un sistema aislado. </vt:lpstr>
      <vt:lpstr>Recapitulemos: Los LLMs como un sistema aislado. </vt:lpstr>
      <vt:lpstr>De generalista a especialista: El camino de la AI.  </vt:lpstr>
      <vt:lpstr>¿Qué es RAG?: Retrieval-Augmented Generation </vt:lpstr>
      <vt:lpstr>Retrieval: Dos caminos, mismo objetivo.</vt:lpstr>
      <vt:lpstr>¿Qué pasaría si solo usamos term base?</vt:lpstr>
      <vt:lpstr>¿Qué pasaría si solo usamos term base?</vt:lpstr>
      <vt:lpstr>¿Qué pasaría si solo usamos term base?</vt:lpstr>
      <vt:lpstr>¿Qué pasaría si solo usamos term base?</vt:lpstr>
      <vt:lpstr>¿Qué pasaría si solo usamos term base?</vt:lpstr>
      <vt:lpstr>¿Qué pasaría si solo usamos term base?</vt:lpstr>
      <vt:lpstr>Arquitectura de RAG: </vt:lpstr>
      <vt:lpstr>Divide and Conquer: Divide el texto en fragmentos.</vt:lpstr>
      <vt:lpstr>Los LLMs se pierden con infinito contexto.</vt:lpstr>
      <vt:lpstr>Similitud de Coseno: “Cercanía” en los chunks.</vt:lpstr>
      <vt:lpstr>¿Qué falta aquí?</vt:lpstr>
      <vt:lpstr>¿Qué falta aquí?</vt:lpstr>
      <vt:lpstr>Control: Métricas de Recuperación y Generación.</vt:lpstr>
      <vt:lpstr>RAGAS: Librería especializada para medir RAGs</vt:lpstr>
      <vt:lpstr>Todo parece bien, pero … como mido realmente. Necesito registros de buggs, errores, llamadas a las Tools, vector databases , etc.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28</cp:revision>
  <dcterms:created xsi:type="dcterms:W3CDTF">2026-03-06T13:35:57Z</dcterms:created>
  <dcterms:modified xsi:type="dcterms:W3CDTF">2026-03-23T20:06:34Z</dcterms:modified>
</cp:coreProperties>
</file>