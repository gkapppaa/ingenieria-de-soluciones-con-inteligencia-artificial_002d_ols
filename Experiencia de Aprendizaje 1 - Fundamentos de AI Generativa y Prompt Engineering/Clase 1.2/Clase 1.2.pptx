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6" r:id="rId3"/>
    <p:sldId id="267" r:id="rId4"/>
    <p:sldId id="270" r:id="rId5"/>
    <p:sldId id="275" r:id="rId6"/>
    <p:sldId id="276" r:id="rId7"/>
    <p:sldId id="277" r:id="rId8"/>
    <p:sldId id="278" r:id="rId9"/>
    <p:sldId id="280" r:id="rId10"/>
    <p:sldId id="268" r:id="rId11"/>
    <p:sldId id="269" r:id="rId12"/>
    <p:sldId id="271" r:id="rId13"/>
    <p:sldId id="272" r:id="rId14"/>
    <p:sldId id="273" r:id="rId15"/>
    <p:sldId id="274" r:id="rId1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>
    <p:extLst>
      <p:ext uri="{19B8F6BF-5375-455C-9EA6-DF929625EA0E}">
        <p15:presenceInfo xmlns:p15="http://schemas.microsoft.com/office/powerpoint/2012/main" userId="Lenov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7" autoAdjust="0"/>
    <p:restoredTop sz="93173" autoAdjust="0"/>
  </p:normalViewPr>
  <p:slideViewPr>
    <p:cSldViewPr snapToGrid="0">
      <p:cViewPr varScale="1">
        <p:scale>
          <a:sx n="60" d="100"/>
          <a:sy n="60" d="100"/>
        </p:scale>
        <p:origin x="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DCB0C-69E9-4911-980B-989A824EA717}" type="datetimeFigureOut">
              <a:rPr lang="es-CL" smtClean="0"/>
              <a:t>13-03-2026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7F482-7FF7-4DD4-AE91-ACA70D5B43D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979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9651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26413-4022-C3C4-7911-E30E71E3C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F5E8F25-6392-6924-C9B6-8034B0EA6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C55F415-FEB3-1C09-5D6E-3A7F0B608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43B22C-98FF-D369-70ED-34DA4D8B36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9433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2EF18-6F18-3996-8AFC-26DACB949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F8C87DF-0610-004B-3F1C-4FD8A7A4E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2011944-3FD5-D4CF-DE6B-63F675C2F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B518EB7-3B3B-4FB1-6E66-DD56ADEC3C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86640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7230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69646-783F-2ADE-93F4-C84400C09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9F72E4C-E81B-0EA1-DA7A-2DBF3EC386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BE03872-D8E6-E590-D66A-EDA103A9F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AB0C6D-38CA-DE9D-F17E-85E0FB78C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2353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4A66D-5C72-220E-A5B3-0A5AA4792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8815F3-77FE-F972-730F-0A51D79F3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615D61-1257-526C-DDBF-89B5FE88A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0439C01-EB8A-6060-305B-4DC2AC01EB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324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77F09-2CEE-134E-D77D-A9C91303B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7C29A37-AF18-232E-292F-B7EE3593E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B9816B6-E7FA-70BD-3CFD-8A36D91FB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45DDCA-8C6A-4606-D024-8FFC7CFD1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611022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1937C-1FAB-0A38-8FC7-D65557A07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6B3CBCA-642F-CFE1-02EF-9BC594EA6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85A6867-27B3-A90A-6B9C-B318F76F0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78FED1-35A7-123A-CEDC-E08A19BA1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37984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1CEB3-5675-98F6-5555-EE13E992A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7ADF84-13F9-5B39-43F1-14E7D8EA0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FA3DF8-0758-BF8A-9304-ECC31709A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13-03-2026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A8AD70-F127-7BA6-5921-BCF784598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809D2E-C8C8-DAE5-342D-7ACCCAC6D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2806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C2BA7-F473-4377-62A9-34C365181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876B6C-F6ED-E8B4-6256-B671D3824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376944-86DF-A06F-F26C-EEAE33302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13-03-2026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42D504-2579-A803-D017-38F414D8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44F6F1-3475-DF5A-171D-90C0A6361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958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EE0DC-FE41-207B-B5D4-12044E8D9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5E523B-DBFD-D95C-BDA2-AF438B18F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0A689A-2C60-C5ED-1F57-27748FB82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13-03-2026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E6A1D8-E528-4BB5-3D0E-DD599C20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2BCB4D-49C6-4998-F409-6029A291D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0702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1A91A-3147-1537-3F76-79772FA41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C01651-05BC-1EC6-A58E-575D048EC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082018-B822-A183-DA4B-1C3D16A49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F26C75-9BEB-D6DB-5431-6309AC889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13-03-2026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71B78F-8C40-BEB7-3CA1-D48366C1C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D4D4F6-B884-C893-0AE7-0BD236FC0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6884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8DA5D-9DAA-85F9-8663-3F4CFE4F1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CA55E1-B5F5-EAF9-B7FE-D45D79747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121A24-CF2D-161C-0F6E-E25010C98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0F6704-DF9F-D96E-863C-22E02CAD62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08E114D-20FF-505F-3AC7-DFA59AC8F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21214F7-5555-5155-7348-E210F99F0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13-03-2026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C5D59F-5FAC-9631-CDC3-84D27C41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21995D8-D632-D10E-8AFF-26E5C809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272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870B8-34B8-37DC-89DB-47FC09CC5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B0F1EB3-E9A9-3C8D-7E75-A95C59BF3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13-03-2026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337F6A3-CB35-F37A-A6DA-88C9FF448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4C9290-251F-B1E0-AEAA-710A3CB53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122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81B6F75-8539-FB15-F03B-E2523D1B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13-03-2026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8725444-0A64-F2BF-CE6D-C96D6C23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A95120-3AD7-2633-1852-99868A08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157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67FF6-55E8-496C-BCC4-4D7B40336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28B327-F8C2-0B0D-FCA9-41E590A06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74743E-45A5-85D0-4052-5B42C3C07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AA9CE0-4EF9-BCF9-74C2-CFE7CCCA4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13-03-2026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A8C77C-C8E9-8F00-1622-EC17987D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BA34C7-982A-2E74-0F17-C8063BB6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46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31788-80C1-18AA-49B2-00AA49AE7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9EDF4D-E446-21A3-5193-EA3AA3FD2A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2F1C9E-17FA-6C7E-F214-0530F189A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1A0B5E-955F-3A5F-84DE-EE873021A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13-03-2026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FDB288-42E2-730F-3EC2-75CDD0F0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9CA278-6D6E-B2A8-B1E4-9F7DA302E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1643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56C15-EF0C-C8A8-41F6-840E0E433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A36D5AC-B824-2DA4-A083-1EEB7768D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20E341-3C14-25A1-76F8-8BC7FE23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13-03-2026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C9B56E-2B7B-8C60-811D-12FE70B4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50FC0E-77B0-E187-7241-8BE9332FF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291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00424F-3FDF-9896-F8DF-EBF93BEF4D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50F60B-440F-292F-888A-8EF62AA41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4116BF-3104-AF5D-C0A8-E063AF706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13-03-2026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8F5DAA-9632-8650-11D1-4852CB9F0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DD27B8-05BD-48E2-3B7C-2DF3A1DBB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46732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FE1D736-C504-F2D3-4D26-5C0C6D789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32A4F1-8C91-29BD-B83A-D5ED13E39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C91089-CE03-9300-C918-89BA1B7A9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DA46D-A1A7-4D05-A86A-5A57D57622A5}" type="datetimeFigureOut">
              <a:rPr lang="es-CL" smtClean="0"/>
              <a:t>13-03-2026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E5FFC7-CC22-AA3D-8561-D011B9400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2EE7A9-3E52-92C2-1A3E-C180FB6A6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560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C5055-DE28-A84E-9FB5-12A3C43AF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9403"/>
            <a:ext cx="9144000" cy="2387600"/>
          </a:xfrm>
        </p:spPr>
        <p:txBody>
          <a:bodyPr/>
          <a:lstStyle/>
          <a:p>
            <a:r>
              <a:rPr lang="es-MX" i="1" dirty="0"/>
              <a:t>Ingeniería de soluciones con AI</a:t>
            </a:r>
            <a:endParaRPr lang="es-CL" i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898086-6830-28E7-5F70-A1C13B3A9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63760" y="5788758"/>
            <a:ext cx="2585194" cy="675639"/>
          </a:xfrm>
        </p:spPr>
        <p:txBody>
          <a:bodyPr>
            <a:normAutofit lnSpcReduction="10000"/>
          </a:bodyPr>
          <a:lstStyle/>
          <a:p>
            <a:pPr algn="l"/>
            <a:r>
              <a:rPr lang="es-MX" sz="1800" b="1" i="1" dirty="0"/>
              <a:t>Docente:</a:t>
            </a:r>
          </a:p>
          <a:p>
            <a:pPr algn="l"/>
            <a:r>
              <a:rPr lang="es-MX" sz="1800" i="1" dirty="0"/>
              <a:t>Francisco Macaya</a:t>
            </a:r>
            <a:endParaRPr lang="es-CL" sz="1800" i="1" dirty="0"/>
          </a:p>
        </p:txBody>
      </p:sp>
      <p:pic>
        <p:nvPicPr>
          <p:cNvPr id="1026" name="Picture 2" descr="Duoc UC - Learn Chile">
            <a:extLst>
              <a:ext uri="{FF2B5EF4-FFF2-40B4-BE49-F238E27FC236}">
                <a16:creationId xmlns:a16="http://schemas.microsoft.com/office/drawing/2014/main" id="{EFAFD388-37C4-B6E5-0BD9-719436329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289FDFC1-9135-D283-EA5A-9264421DCA54}"/>
              </a:ext>
            </a:extLst>
          </p:cNvPr>
          <p:cNvSpPr txBox="1">
            <a:spLocks/>
          </p:cNvSpPr>
          <p:nvPr/>
        </p:nvSpPr>
        <p:spPr>
          <a:xfrm>
            <a:off x="5345302" y="5971981"/>
            <a:ext cx="2585194" cy="675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 i="1" dirty="0"/>
              <a:t>Semestre 2026-1</a:t>
            </a:r>
            <a:endParaRPr lang="es-CL" sz="1800" i="1" dirty="0"/>
          </a:p>
        </p:txBody>
      </p:sp>
    </p:spTree>
    <p:extLst>
      <p:ext uri="{BB962C8B-B14F-4D97-AF65-F5344CB8AC3E}">
        <p14:creationId xmlns:p14="http://schemas.microsoft.com/office/powerpoint/2010/main" val="2817793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156E4-CA9F-D506-B0D1-EEE348E0C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2EDB48-DD50-4819-B34A-4BE67304E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Noticias: </a:t>
            </a:r>
            <a:r>
              <a:rPr lang="es-MX" sz="3600" i="1" dirty="0"/>
              <a:t>Yann </a:t>
            </a:r>
            <a:r>
              <a:rPr lang="es-MX" sz="3600" i="1" dirty="0" err="1"/>
              <a:t>LeCun</a:t>
            </a:r>
            <a:r>
              <a:rPr lang="es-MX" sz="3600" i="1" dirty="0"/>
              <a:t>, pionero en AI, reclama que los </a:t>
            </a:r>
            <a:r>
              <a:rPr lang="es-MX" sz="3600" i="1" dirty="0" err="1"/>
              <a:t>LLMs</a:t>
            </a:r>
            <a:r>
              <a:rPr lang="es-MX" sz="3600" i="1" dirty="0"/>
              <a:t> no son capaces de entender el mundo físico.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1201A8FD-C688-8C94-3C88-C8750E71A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3DF0326-9135-76DA-7228-1FFF075BD56C}"/>
              </a:ext>
            </a:extLst>
          </p:cNvPr>
          <p:cNvSpPr txBox="1"/>
          <p:nvPr/>
        </p:nvSpPr>
        <p:spPr>
          <a:xfrm>
            <a:off x="503358" y="6291699"/>
            <a:ext cx="76043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b="1" i="1" dirty="0"/>
              <a:t>Nota:</a:t>
            </a:r>
            <a:r>
              <a:rPr lang="es-CL" sz="1200" dirty="0"/>
              <a:t> https://www.wired.com/story/yann-lecun-raises-dollar1-billion-to-build-ai-that-understands-the-physical-world/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FC4493D-8108-57B2-6D72-E3D0C0B44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48" y="1610468"/>
            <a:ext cx="10958794" cy="468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93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308BD-6591-3817-0522-CCA60F585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84A0F-F196-EF93-7722-5C7C746DA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Clase 1.2: </a:t>
            </a:r>
            <a:r>
              <a:rPr lang="es-MX" sz="3600" i="1" dirty="0"/>
              <a:t>Técnicas de </a:t>
            </a:r>
            <a:r>
              <a:rPr lang="es-CL" sz="3600" i="1" dirty="0" err="1"/>
              <a:t>Prompt</a:t>
            </a:r>
            <a:r>
              <a:rPr lang="es-CL" sz="3600" i="1" dirty="0"/>
              <a:t> </a:t>
            </a:r>
            <a:r>
              <a:rPr lang="es-CL" sz="3600" i="1" dirty="0" err="1"/>
              <a:t>Engineering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C70F39DB-595B-4BED-DADD-2EE9AF2AA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B34375E6-C820-EAEA-A2C4-2EEA9664306D}"/>
              </a:ext>
            </a:extLst>
          </p:cNvPr>
          <p:cNvSpPr txBox="1">
            <a:spLocks/>
          </p:cNvSpPr>
          <p:nvPr/>
        </p:nvSpPr>
        <p:spPr>
          <a:xfrm>
            <a:off x="762553" y="1349744"/>
            <a:ext cx="10515600" cy="43842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dirty="0"/>
              <a:t>Se cubrirán los siguientes tópicos en la clase: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Zero-</a:t>
            </a:r>
            <a:r>
              <a:rPr lang="es-MX" sz="2800" dirty="0" err="1"/>
              <a:t>shot</a:t>
            </a:r>
            <a:r>
              <a:rPr lang="es-MX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 err="1"/>
              <a:t>Few-shot</a:t>
            </a:r>
            <a:r>
              <a:rPr lang="es-MX" sz="2800" dirty="0"/>
              <a:t> </a:t>
            </a:r>
            <a:r>
              <a:rPr lang="es-MX" sz="2800" dirty="0" err="1"/>
              <a:t>learning</a:t>
            </a:r>
            <a:r>
              <a:rPr lang="es-MX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 err="1"/>
              <a:t>Chain-of-thought</a:t>
            </a:r>
            <a:r>
              <a:rPr lang="es-MX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 err="1"/>
              <a:t>Prompts</a:t>
            </a:r>
            <a:r>
              <a:rPr lang="es-MX" sz="2800" dirty="0"/>
              <a:t> Especializados.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2800" dirty="0"/>
          </a:p>
          <a:p>
            <a:r>
              <a:rPr lang="es-MX" sz="2800" dirty="0"/>
              <a:t>No obstante, esta clase </a:t>
            </a:r>
            <a:r>
              <a:rPr lang="es-MX" sz="2800" b="1" i="1" u="sng" dirty="0"/>
              <a:t>no cubrirá </a:t>
            </a:r>
            <a:r>
              <a:rPr lang="es-MX" sz="2800" dirty="0"/>
              <a:t>los siguientes tópicos: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fine-</a:t>
            </a:r>
            <a:r>
              <a:rPr lang="es-MX" sz="2800" dirty="0" err="1"/>
              <a:t>tunning</a:t>
            </a:r>
            <a:r>
              <a:rPr lang="es-MX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RAG.</a:t>
            </a:r>
          </a:p>
          <a:p>
            <a:endParaRPr lang="es-CL" sz="3600" i="1" dirty="0"/>
          </a:p>
        </p:txBody>
      </p:sp>
    </p:spTree>
    <p:extLst>
      <p:ext uri="{BB962C8B-B14F-4D97-AF65-F5344CB8AC3E}">
        <p14:creationId xmlns:p14="http://schemas.microsoft.com/office/powerpoint/2010/main" val="3163005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D39E2-9FF2-6A1E-1922-F99FF4B6C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79CF08-BB9D-142B-F583-41A6E9F90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 err="1"/>
              <a:t>Why</a:t>
            </a:r>
            <a:r>
              <a:rPr lang="es-MX" sz="3600" b="1" i="1" dirty="0"/>
              <a:t>: </a:t>
            </a:r>
            <a:r>
              <a:rPr lang="es-MX" sz="3600" i="1" dirty="0"/>
              <a:t>¿Por qué los </a:t>
            </a:r>
            <a:r>
              <a:rPr lang="es-MX" sz="3600" i="1" dirty="0" err="1"/>
              <a:t>LLMs</a:t>
            </a:r>
            <a:r>
              <a:rPr lang="es-MX" sz="3600" i="1" dirty="0"/>
              <a:t> no me responden como quiero?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E640CBAF-E7ED-BECE-3438-38C636143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26CCDA-81A2-57FF-10E7-339F8BF3C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579" y="1518663"/>
            <a:ext cx="4095961" cy="427377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BA241361-22FB-2CAF-6A41-558EAD3FC1CD}"/>
              </a:ext>
            </a:extLst>
          </p:cNvPr>
          <p:cNvSpPr txBox="1">
            <a:spLocks/>
          </p:cNvSpPr>
          <p:nvPr/>
        </p:nvSpPr>
        <p:spPr>
          <a:xfrm>
            <a:off x="6325152" y="1355148"/>
            <a:ext cx="5298164" cy="47703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2400" dirty="0"/>
              <a:t>Los modelos de lenguaje son entrenados con toda la información del internet, y tiene una fecha de corte de entrenamiento (“</a:t>
            </a:r>
            <a:r>
              <a:rPr lang="es-CL" sz="2400" dirty="0" err="1"/>
              <a:t>cut</a:t>
            </a:r>
            <a:r>
              <a:rPr lang="es-CL" sz="2400" dirty="0"/>
              <a:t>-off”).  </a:t>
            </a:r>
          </a:p>
          <a:p>
            <a:endParaRPr lang="es-CL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Los </a:t>
            </a:r>
            <a:r>
              <a:rPr lang="es-CL" sz="2400" dirty="0" err="1"/>
              <a:t>LLMs</a:t>
            </a:r>
            <a:r>
              <a:rPr lang="es-CL" sz="2400" dirty="0"/>
              <a:t> son generalistas.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Tienen una fecha de corte.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Se construyen en base a datos públicos, no privados.</a:t>
            </a:r>
          </a:p>
          <a:p>
            <a:endParaRPr lang="es-CL" sz="2400" dirty="0"/>
          </a:p>
          <a:p>
            <a:r>
              <a:rPr lang="es-CL" sz="2400" dirty="0"/>
              <a:t>Hay técnicas para resolver estos </a:t>
            </a:r>
            <a:r>
              <a:rPr lang="es-CL" sz="2400" b="1" i="1" dirty="0"/>
              <a:t>problemas.</a:t>
            </a:r>
          </a:p>
          <a:p>
            <a:endParaRPr lang="es-CL" sz="2400" i="1" dirty="0"/>
          </a:p>
        </p:txBody>
      </p:sp>
    </p:spTree>
    <p:extLst>
      <p:ext uri="{BB962C8B-B14F-4D97-AF65-F5344CB8AC3E}">
        <p14:creationId xmlns:p14="http://schemas.microsoft.com/office/powerpoint/2010/main" val="914722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EBBEE-0EEA-D3BB-8336-78BD3BF36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11CD5-E2F0-0C7B-0469-9F67F6F32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3" y="113696"/>
            <a:ext cx="10515600" cy="1325563"/>
          </a:xfrm>
        </p:spPr>
        <p:txBody>
          <a:bodyPr>
            <a:noAutofit/>
          </a:bodyPr>
          <a:lstStyle/>
          <a:p>
            <a:r>
              <a:rPr lang="es-CL" sz="3600" b="1" i="1" dirty="0" err="1"/>
              <a:t>Hallucinate</a:t>
            </a:r>
            <a:r>
              <a:rPr lang="es-CL" sz="3600" i="1" dirty="0"/>
              <a:t>: El talón de Aquiles de los </a:t>
            </a:r>
            <a:r>
              <a:rPr lang="es-CL" sz="3600" i="1" dirty="0" err="1"/>
              <a:t>LLMs</a:t>
            </a:r>
            <a:r>
              <a:rPr lang="es-CL" sz="3600" i="1" dirty="0"/>
              <a:t>.</a:t>
            </a:r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AFF229DD-BF71-3CB6-1424-6EDCC25B4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9C8188E-B197-9277-DC7A-EE5834C1A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960" y="1127759"/>
            <a:ext cx="7361114" cy="430139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6056470-B727-A2D1-B079-B71906FC5623}"/>
              </a:ext>
            </a:extLst>
          </p:cNvPr>
          <p:cNvSpPr txBox="1"/>
          <p:nvPr/>
        </p:nvSpPr>
        <p:spPr>
          <a:xfrm>
            <a:off x="620313" y="635712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400" b="1" i="1" dirty="0"/>
              <a:t>Nota</a:t>
            </a:r>
            <a:r>
              <a:rPr lang="es-CL" sz="1400" dirty="0"/>
              <a:t>: https://arxiv.org/pdf/2509.04664</a:t>
            </a:r>
          </a:p>
        </p:txBody>
      </p:sp>
    </p:spTree>
    <p:extLst>
      <p:ext uri="{BB962C8B-B14F-4D97-AF65-F5344CB8AC3E}">
        <p14:creationId xmlns:p14="http://schemas.microsoft.com/office/powerpoint/2010/main" val="2649512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257B2-31A0-85D8-4B12-CD0BE347B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69BC08-3932-D5B2-1A43-AF96CCAE6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433" y="1912016"/>
            <a:ext cx="10515600" cy="1325563"/>
          </a:xfrm>
        </p:spPr>
        <p:txBody>
          <a:bodyPr>
            <a:noAutofit/>
          </a:bodyPr>
          <a:lstStyle/>
          <a:p>
            <a:r>
              <a:rPr lang="es-CL" sz="4000" b="1" i="1" dirty="0" err="1"/>
              <a:t>Prompt</a:t>
            </a:r>
            <a:r>
              <a:rPr lang="es-CL" sz="4000" b="1" i="1" dirty="0"/>
              <a:t> </a:t>
            </a:r>
            <a:r>
              <a:rPr lang="es-CL" sz="4000" b="1" i="1" dirty="0" err="1"/>
              <a:t>Engineering</a:t>
            </a:r>
            <a:r>
              <a:rPr lang="es-CL" sz="4000" b="1" i="1" dirty="0"/>
              <a:t> </a:t>
            </a:r>
            <a:r>
              <a:rPr lang="es-CL" sz="3600" i="1" dirty="0"/>
              <a:t>es una técnica para mejorar las respuestas de los modelos, buscando consistencia, reducción de alucinaciones y personalización de los </a:t>
            </a:r>
            <a:r>
              <a:rPr lang="es-CL" sz="3600" i="1" dirty="0" err="1"/>
              <a:t>LLMs</a:t>
            </a:r>
            <a:r>
              <a:rPr lang="es-CL" sz="3600" i="1" dirty="0"/>
              <a:t>.</a:t>
            </a:r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B2A28363-6D93-DE8C-F932-8DCEC843D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5678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8F6F4-5476-9149-08BA-FB2D7CC11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88D10D67-7E7E-C414-C0CB-715BE675B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650C4F39-F3C2-B27A-0FE5-F58F5C3ABC75}"/>
              </a:ext>
            </a:extLst>
          </p:cNvPr>
          <p:cNvCxnSpPr/>
          <p:nvPr/>
        </p:nvCxnSpPr>
        <p:spPr>
          <a:xfrm>
            <a:off x="4033520" y="3545840"/>
            <a:ext cx="2611120" cy="11988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ítulo 1">
            <a:extLst>
              <a:ext uri="{FF2B5EF4-FFF2-40B4-BE49-F238E27FC236}">
                <a16:creationId xmlns:a16="http://schemas.microsoft.com/office/drawing/2014/main" id="{33F31236-89EE-7DE6-FCC1-2E845015F422}"/>
              </a:ext>
            </a:extLst>
          </p:cNvPr>
          <p:cNvSpPr txBox="1">
            <a:spLocks/>
          </p:cNvSpPr>
          <p:nvPr/>
        </p:nvSpPr>
        <p:spPr>
          <a:xfrm>
            <a:off x="6852920" y="39816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600" i="1" dirty="0"/>
              <a:t>¿Es la solución perfecta?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6FE87BB0-667A-CFD8-2698-11DF02596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D5E4E6BD-601A-AEE7-6BDC-3DF9315AF672}"/>
              </a:ext>
            </a:extLst>
          </p:cNvPr>
          <p:cNvSpPr txBox="1">
            <a:spLocks/>
          </p:cNvSpPr>
          <p:nvPr/>
        </p:nvSpPr>
        <p:spPr>
          <a:xfrm>
            <a:off x="691433" y="19120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4000" b="1" i="1"/>
              <a:t>Prompt Engineering </a:t>
            </a:r>
            <a:r>
              <a:rPr lang="es-CL" sz="3600" i="1"/>
              <a:t>es una técnica para mejorar las respuestas de los modelos, buscando consistencia, reducción de alucinaciones y personalización de los LLMs.</a:t>
            </a:r>
            <a:endParaRPr lang="es-CL" sz="3600" i="1" dirty="0"/>
          </a:p>
        </p:txBody>
      </p:sp>
    </p:spTree>
    <p:extLst>
      <p:ext uri="{BB962C8B-B14F-4D97-AF65-F5344CB8AC3E}">
        <p14:creationId xmlns:p14="http://schemas.microsoft.com/office/powerpoint/2010/main" val="1304857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9FDF3-09BE-1AB8-3EC0-9C42158B4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72A8930F-1822-7455-B419-932B3D791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00FB54E-34D5-66B4-CA62-2D6A3F706930}"/>
              </a:ext>
            </a:extLst>
          </p:cNvPr>
          <p:cNvCxnSpPr/>
          <p:nvPr/>
        </p:nvCxnSpPr>
        <p:spPr>
          <a:xfrm>
            <a:off x="4033520" y="3545840"/>
            <a:ext cx="2611120" cy="11988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ítulo 1">
            <a:extLst>
              <a:ext uri="{FF2B5EF4-FFF2-40B4-BE49-F238E27FC236}">
                <a16:creationId xmlns:a16="http://schemas.microsoft.com/office/drawing/2014/main" id="{8089AB0F-C3E5-E4BD-55D8-E8A91BBA79F0}"/>
              </a:ext>
            </a:extLst>
          </p:cNvPr>
          <p:cNvSpPr txBox="1">
            <a:spLocks/>
          </p:cNvSpPr>
          <p:nvPr/>
        </p:nvSpPr>
        <p:spPr>
          <a:xfrm>
            <a:off x="6852920" y="408193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600" i="1" dirty="0"/>
              <a:t>¿Es la solución perfecta?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B221EEEA-9C05-EEE1-C27E-326A96503126}"/>
              </a:ext>
            </a:extLst>
          </p:cNvPr>
          <p:cNvSpPr txBox="1">
            <a:spLocks/>
          </p:cNvSpPr>
          <p:nvPr/>
        </p:nvSpPr>
        <p:spPr>
          <a:xfrm>
            <a:off x="7490874" y="47447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600" i="1" dirty="0"/>
              <a:t>No, pero ayuda.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5EA02DBA-441B-1A94-F9CC-A494815C2334}"/>
              </a:ext>
            </a:extLst>
          </p:cNvPr>
          <p:cNvSpPr txBox="1">
            <a:spLocks/>
          </p:cNvSpPr>
          <p:nvPr/>
        </p:nvSpPr>
        <p:spPr>
          <a:xfrm>
            <a:off x="691433" y="19120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4000" b="1" i="1"/>
              <a:t>Prompt Engineering </a:t>
            </a:r>
            <a:r>
              <a:rPr lang="es-CL" sz="3600" i="1"/>
              <a:t>es una técnica para mejorar las respuestas de los modelos, buscando consistencia, reducción de alucinaciones y personalización de los LLMs.</a:t>
            </a:r>
            <a:endParaRPr lang="es-CL" sz="3600" i="1" dirty="0"/>
          </a:p>
        </p:txBody>
      </p:sp>
    </p:spTree>
    <p:extLst>
      <p:ext uri="{BB962C8B-B14F-4D97-AF65-F5344CB8AC3E}">
        <p14:creationId xmlns:p14="http://schemas.microsoft.com/office/powerpoint/2010/main" val="4135010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A97FD-2191-E9AA-3D7F-CD2F3740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A56AF0-4894-BD4E-ED99-0933E6ADF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280" y="2471875"/>
            <a:ext cx="10515600" cy="1325563"/>
          </a:xfrm>
        </p:spPr>
        <p:txBody>
          <a:bodyPr>
            <a:noAutofit/>
          </a:bodyPr>
          <a:lstStyle/>
          <a:p>
            <a:r>
              <a:rPr lang="es-CL" sz="3600" i="1" dirty="0"/>
              <a:t>¿Cuáles son las técnicas de </a:t>
            </a:r>
            <a:r>
              <a:rPr lang="es-CL" sz="3600" i="1" dirty="0" err="1"/>
              <a:t>Prompt</a:t>
            </a:r>
            <a:r>
              <a:rPr lang="es-CL" sz="3600" i="1" dirty="0"/>
              <a:t> </a:t>
            </a:r>
            <a:r>
              <a:rPr lang="es-CL" sz="3600" i="1" dirty="0" err="1"/>
              <a:t>Engineering</a:t>
            </a:r>
            <a:r>
              <a:rPr lang="es-CL" sz="3600" i="1" dirty="0"/>
              <a:t>?</a:t>
            </a:r>
            <a:endParaRPr lang="es-CL" sz="3600" b="1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F10E2652-E8AB-542F-F375-D5A600D6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179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688FF-14EF-D369-96A0-A78B148A2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1619C9-3C53-B17C-0F4A-2E607A64D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0435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Zero – </a:t>
            </a:r>
            <a:r>
              <a:rPr lang="es-MX" sz="3600" b="1" i="1" dirty="0" err="1"/>
              <a:t>Shot</a:t>
            </a:r>
            <a:r>
              <a:rPr lang="es-MX" sz="3600" b="1" i="1" dirty="0"/>
              <a:t> </a:t>
            </a:r>
            <a:r>
              <a:rPr lang="es-CL" sz="3600" b="1" i="1" dirty="0" err="1"/>
              <a:t>Prompting</a:t>
            </a:r>
            <a:endParaRPr lang="es-CL" sz="3600" b="1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7C9AD642-C65A-F352-B420-FE924CA93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A09965E-1AA7-4955-EA0B-59F1D1D0BE72}"/>
              </a:ext>
            </a:extLst>
          </p:cNvPr>
          <p:cNvSpPr txBox="1"/>
          <p:nvPr/>
        </p:nvSpPr>
        <p:spPr>
          <a:xfrm>
            <a:off x="503358" y="6291699"/>
            <a:ext cx="76043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b="1" i="1" dirty="0"/>
              <a:t>Nota:</a:t>
            </a:r>
            <a:r>
              <a:rPr lang="es-CL" sz="1200" dirty="0"/>
              <a:t> https://blog.langchain.com/few-shot-prompting-to-improve-tool-calling-performance/ 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F5681707-FFBC-C1EA-DF55-C85DF5E7A034}"/>
              </a:ext>
            </a:extLst>
          </p:cNvPr>
          <p:cNvSpPr txBox="1">
            <a:spLocks/>
          </p:cNvSpPr>
          <p:nvPr/>
        </p:nvSpPr>
        <p:spPr>
          <a:xfrm>
            <a:off x="5878113" y="993489"/>
            <a:ext cx="5257800" cy="40255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2400" b="1" i="1" dirty="0"/>
              <a:t>Mensaje directo al LLM, sin ningún ejemplo previo. </a:t>
            </a:r>
          </a:p>
          <a:p>
            <a:endParaRPr lang="es-CL" sz="2400" dirty="0"/>
          </a:p>
          <a:p>
            <a:r>
              <a:rPr lang="es-CL" sz="2400" dirty="0"/>
              <a:t>Ventajas: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Implementación fácil y rápida.</a:t>
            </a:r>
          </a:p>
          <a:p>
            <a:endParaRPr lang="es-CL" sz="2400" dirty="0"/>
          </a:p>
          <a:p>
            <a:r>
              <a:rPr lang="es-CL" sz="2400" dirty="0"/>
              <a:t>Desventajas: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Poco confiable.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Los problemas reales son complejos, entonces muy poco usado en la industria.</a:t>
            </a:r>
            <a:endParaRPr lang="es-CL" sz="2400" i="1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B9682C2-D1FE-20EF-659B-C64CFBE5D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439" y="4847209"/>
            <a:ext cx="6088162" cy="101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87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9C53E-E63A-B17C-52BE-C441A66FF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A7F201-709B-965B-BAA9-BDC841B24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0435"/>
            <a:ext cx="10515600" cy="1325563"/>
          </a:xfrm>
        </p:spPr>
        <p:txBody>
          <a:bodyPr>
            <a:noAutofit/>
          </a:bodyPr>
          <a:lstStyle/>
          <a:p>
            <a:r>
              <a:rPr lang="es-CL" sz="4000" b="1" i="1" dirty="0" err="1"/>
              <a:t>Few-Shot</a:t>
            </a:r>
            <a:r>
              <a:rPr lang="es-CL" sz="4000" b="1" i="1" dirty="0"/>
              <a:t> </a:t>
            </a:r>
            <a:r>
              <a:rPr lang="es-CL" sz="4000" b="1" i="1" dirty="0" err="1"/>
              <a:t>Prompting</a:t>
            </a:r>
            <a:endParaRPr lang="es-CL" sz="4000" b="1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3E498152-BC00-D3C0-5FB0-E57A2384A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54B9A69B-616B-831D-6B60-DD1EB1E07EE0}"/>
              </a:ext>
            </a:extLst>
          </p:cNvPr>
          <p:cNvSpPr txBox="1">
            <a:spLocks/>
          </p:cNvSpPr>
          <p:nvPr/>
        </p:nvSpPr>
        <p:spPr>
          <a:xfrm>
            <a:off x="5878113" y="1146017"/>
            <a:ext cx="5257800" cy="40255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2000" b="1" i="1" dirty="0"/>
              <a:t>Mensaje directo al LLM, pero con ejemplos de entradas y salidas. Le doy ejemplos al LLM de como quiero que trabaje.</a:t>
            </a:r>
          </a:p>
          <a:p>
            <a:endParaRPr lang="es-CL" sz="2000" dirty="0"/>
          </a:p>
          <a:p>
            <a:r>
              <a:rPr lang="es-CL" sz="2000" dirty="0"/>
              <a:t>Ventajas: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000" dirty="0"/>
              <a:t>Mas preciso en la tarea. Le enseño como comportarse.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L" sz="2000" dirty="0"/>
          </a:p>
          <a:p>
            <a:r>
              <a:rPr lang="es-CL" sz="2000" dirty="0"/>
              <a:t>Desventajas: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000" dirty="0"/>
              <a:t>Output más estándar.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000" dirty="0"/>
              <a:t>Necesito tener los ejemplos.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000" dirty="0"/>
              <a:t>El </a:t>
            </a:r>
            <a:r>
              <a:rPr lang="es-CL" sz="2000" dirty="0" err="1"/>
              <a:t>prompt</a:t>
            </a:r>
            <a:r>
              <a:rPr lang="es-CL" sz="2000" dirty="0"/>
              <a:t> puede tomar más tiempo en construirlo.</a:t>
            </a:r>
            <a:endParaRPr lang="es-CL" sz="2000" i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4564E48-ECA7-77F3-4357-CD86D66E2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709" y="5001376"/>
            <a:ext cx="4711942" cy="118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298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DE96E-925A-C73F-24E6-01835329F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90E760-3551-AF8A-6D5D-67111174D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89480" y="249601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CL" i="1" dirty="0" err="1"/>
              <a:t>Chain-of-Thought</a:t>
            </a:r>
            <a:br>
              <a:rPr lang="es-CL" i="1" dirty="0"/>
            </a:br>
            <a:r>
              <a:rPr lang="es-CL" i="1" dirty="0"/>
              <a:t>(COF)</a:t>
            </a:r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5DF939F5-A8CF-81E5-C6E4-5597E16F2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D6F56345-3B6F-EA99-70E7-DA2C9941FBC9}"/>
              </a:ext>
            </a:extLst>
          </p:cNvPr>
          <p:cNvSpPr txBox="1">
            <a:spLocks/>
          </p:cNvSpPr>
          <p:nvPr/>
        </p:nvSpPr>
        <p:spPr>
          <a:xfrm>
            <a:off x="5878113" y="855882"/>
            <a:ext cx="5257800" cy="40255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2000" b="1" i="1" dirty="0"/>
              <a:t>Antes de tener una respuesta, lo correcto es “pensar”. El COF busca que los </a:t>
            </a:r>
            <a:r>
              <a:rPr lang="es-CL" sz="2000" b="1" i="1" dirty="0" err="1"/>
              <a:t>LLMs</a:t>
            </a:r>
            <a:r>
              <a:rPr lang="es-CL" sz="2000" b="1" i="1" dirty="0"/>
              <a:t> construyan una secuencia de pasos antes de entregar la respuesta, como si estuvieran haciendo el calculo matemático de una expresión compleja en “Voz Alta”.</a:t>
            </a:r>
          </a:p>
          <a:p>
            <a:endParaRPr lang="es-CL" sz="2000" dirty="0"/>
          </a:p>
          <a:p>
            <a:r>
              <a:rPr lang="es-CL" sz="2000" dirty="0"/>
              <a:t>Ventajas: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000" dirty="0"/>
              <a:t>Mayor confiabilidad.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000" dirty="0"/>
              <a:t>Trazabilidad del pensamiento respecto a la respuesta dada.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000" dirty="0"/>
              <a:t>Descompone, razona y construye la respuesta.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000" dirty="0" err="1"/>
              <a:t>Debugging</a:t>
            </a:r>
            <a:r>
              <a:rPr lang="es-CL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L" sz="2000" dirty="0"/>
          </a:p>
          <a:p>
            <a:r>
              <a:rPr lang="es-CL" sz="2000" dirty="0"/>
              <a:t>Desventajas: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000" dirty="0"/>
              <a:t>Toma mayor tiempo de inferencia.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000" dirty="0"/>
              <a:t>No aplica para todos los casos.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04212E0-03F1-1C6C-29AB-461DD511E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171" y="5306127"/>
            <a:ext cx="5188217" cy="88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64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9C8E-B0EB-11C4-E11D-50EF48FD1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BD657-9DB5-49BA-C1F6-71970FFAF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295977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CL" i="1" dirty="0"/>
              <a:t>Técnicas avanzadas de </a:t>
            </a:r>
            <a:r>
              <a:rPr lang="es-CL" i="1" dirty="0" err="1"/>
              <a:t>Prompting</a:t>
            </a:r>
            <a:endParaRPr lang="es-CL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AC405D2B-4254-1703-253C-F04B1FC99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D1CD4FE-6463-F120-23B7-DA026D6802E9}"/>
              </a:ext>
            </a:extLst>
          </p:cNvPr>
          <p:cNvSpPr txBox="1"/>
          <p:nvPr/>
        </p:nvSpPr>
        <p:spPr>
          <a:xfrm>
            <a:off x="503358" y="18253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89"/>
              </a:spcBef>
              <a:spcAft>
                <a:spcPts val="1451"/>
              </a:spcAft>
              <a:buNone/>
            </a:pPr>
            <a:r>
              <a:rPr lang="es-CL" b="1" i="1" dirty="0" err="1">
                <a:effectLst/>
                <a:latin typeface="system-ui"/>
              </a:rPr>
              <a:t>Tree</a:t>
            </a:r>
            <a:r>
              <a:rPr lang="es-CL" b="1" i="1" dirty="0">
                <a:effectLst/>
                <a:latin typeface="system-ui"/>
              </a:rPr>
              <a:t> </a:t>
            </a:r>
            <a:r>
              <a:rPr lang="es-CL" b="1" i="1" dirty="0" err="1">
                <a:effectLst/>
                <a:latin typeface="system-ui"/>
              </a:rPr>
              <a:t>of</a:t>
            </a:r>
            <a:r>
              <a:rPr lang="es-CL" b="1" i="1" dirty="0">
                <a:effectLst/>
                <a:latin typeface="system-ui"/>
              </a:rPr>
              <a:t> </a:t>
            </a:r>
            <a:r>
              <a:rPr lang="es-CL" b="1" i="1" dirty="0" err="1">
                <a:effectLst/>
                <a:latin typeface="system-ui"/>
              </a:rPr>
              <a:t>Thoughts</a:t>
            </a:r>
            <a:r>
              <a:rPr lang="es-CL" b="1" i="1" dirty="0">
                <a:effectLst/>
                <a:latin typeface="system-ui"/>
              </a:rPr>
              <a:t> (</a:t>
            </a:r>
            <a:r>
              <a:rPr lang="es-CL" b="1" i="1" dirty="0" err="1">
                <a:effectLst/>
                <a:latin typeface="system-ui"/>
              </a:rPr>
              <a:t>ToT</a:t>
            </a:r>
            <a:r>
              <a:rPr lang="es-CL" b="1" i="1" dirty="0">
                <a:effectLst/>
                <a:latin typeface="system-ui"/>
              </a:rPr>
              <a:t>)</a:t>
            </a:r>
          </a:p>
        </p:txBody>
      </p:sp>
      <p:pic>
        <p:nvPicPr>
          <p:cNvPr id="1026" name="Picture 2" descr="Iconos gratis de computadora">
            <a:extLst>
              <a:ext uri="{FF2B5EF4-FFF2-40B4-BE49-F238E27FC236}">
                <a16:creationId xmlns:a16="http://schemas.microsoft.com/office/drawing/2014/main" id="{C5B75F41-B9E4-41E8-4260-C7FCAC6E4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798" y="4983450"/>
            <a:ext cx="1076643" cy="1076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324DB099-3A6E-7D3D-71F8-86EE69B62C46}"/>
              </a:ext>
            </a:extLst>
          </p:cNvPr>
          <p:cNvSpPr txBox="1"/>
          <p:nvPr/>
        </p:nvSpPr>
        <p:spPr>
          <a:xfrm>
            <a:off x="503358" y="2459435"/>
            <a:ext cx="233128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0" i="0" dirty="0" err="1">
                <a:effectLst/>
                <a:latin typeface="+mj-lt"/>
              </a:rPr>
              <a:t>Tree</a:t>
            </a:r>
            <a:r>
              <a:rPr lang="es-MX" b="0" i="0" dirty="0">
                <a:effectLst/>
                <a:latin typeface="+mj-lt"/>
              </a:rPr>
              <a:t> </a:t>
            </a:r>
            <a:r>
              <a:rPr lang="es-MX" b="0" i="0" dirty="0" err="1">
                <a:effectLst/>
                <a:latin typeface="+mj-lt"/>
              </a:rPr>
              <a:t>of</a:t>
            </a:r>
            <a:r>
              <a:rPr lang="es-MX" b="0" i="0" dirty="0">
                <a:effectLst/>
                <a:latin typeface="+mj-lt"/>
              </a:rPr>
              <a:t> </a:t>
            </a:r>
            <a:r>
              <a:rPr lang="es-MX" b="0" i="0" dirty="0" err="1">
                <a:effectLst/>
                <a:latin typeface="+mj-lt"/>
              </a:rPr>
              <a:t>Thoughts</a:t>
            </a:r>
            <a:r>
              <a:rPr lang="es-MX" b="0" i="0" dirty="0">
                <a:effectLst/>
                <a:latin typeface="+mj-lt"/>
              </a:rPr>
              <a:t> permite al modelo explorar múltiples caminos de razonamiento de manera sistemática, evaluando y seleccionando las mejores opciones.</a:t>
            </a:r>
            <a:endParaRPr lang="es-CL" dirty="0">
              <a:latin typeface="+mj-lt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277B1DC-856D-B783-90C0-E152B584A88A}"/>
              </a:ext>
            </a:extLst>
          </p:cNvPr>
          <p:cNvSpPr txBox="1"/>
          <p:nvPr/>
        </p:nvSpPr>
        <p:spPr>
          <a:xfrm>
            <a:off x="3129280" y="18238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1" dirty="0" err="1"/>
              <a:t>Self-Consistency</a:t>
            </a:r>
            <a:endParaRPr lang="es-CL" b="1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57AACDB-8BD9-46B6-1A0F-DAB02822F253}"/>
              </a:ext>
            </a:extLst>
          </p:cNvPr>
          <p:cNvSpPr txBox="1"/>
          <p:nvPr/>
        </p:nvSpPr>
        <p:spPr>
          <a:xfrm>
            <a:off x="3055838" y="2474387"/>
            <a:ext cx="2133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 err="1">
                <a:latin typeface="+mj-lt"/>
              </a:rPr>
              <a:t>Self-Consistency</a:t>
            </a:r>
            <a:r>
              <a:rPr lang="es-MX" dirty="0">
                <a:latin typeface="+mj-lt"/>
              </a:rPr>
              <a:t> mejora la confiabilidad generando múltiples respuestas y seleccionando la más consistente.</a:t>
            </a:r>
            <a:endParaRPr lang="es-CL" dirty="0">
              <a:latin typeface="+mj-lt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E2CE749-3F4A-E937-ECE3-01F3ED9559F6}"/>
              </a:ext>
            </a:extLst>
          </p:cNvPr>
          <p:cNvSpPr txBox="1"/>
          <p:nvPr/>
        </p:nvSpPr>
        <p:spPr>
          <a:xfrm>
            <a:off x="5262880" y="1697301"/>
            <a:ext cx="2905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89"/>
              </a:spcBef>
              <a:spcAft>
                <a:spcPts val="1451"/>
              </a:spcAft>
              <a:buNone/>
            </a:pPr>
            <a:r>
              <a:rPr lang="es-CL" b="1" i="1" dirty="0" err="1">
                <a:effectLst/>
                <a:latin typeface="system-ui"/>
              </a:rPr>
              <a:t>Program-Aided</a:t>
            </a:r>
            <a:r>
              <a:rPr lang="es-CL" b="1" i="1" dirty="0">
                <a:effectLst/>
                <a:latin typeface="system-ui"/>
              </a:rPr>
              <a:t> </a:t>
            </a:r>
            <a:r>
              <a:rPr lang="es-CL" b="1" i="1" dirty="0" err="1">
                <a:effectLst/>
                <a:latin typeface="system-ui"/>
              </a:rPr>
              <a:t>Language</a:t>
            </a:r>
            <a:r>
              <a:rPr lang="es-CL" b="1" i="1" dirty="0">
                <a:effectLst/>
                <a:latin typeface="system-ui"/>
              </a:rPr>
              <a:t> </a:t>
            </a:r>
            <a:r>
              <a:rPr lang="es-CL" b="1" i="1" dirty="0" err="1">
                <a:effectLst/>
                <a:latin typeface="system-ui"/>
              </a:rPr>
              <a:t>Models</a:t>
            </a:r>
            <a:r>
              <a:rPr lang="es-CL" b="1" i="1" dirty="0">
                <a:effectLst/>
                <a:latin typeface="system-ui"/>
              </a:rPr>
              <a:t> (PAL)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0F3E59C-F1E5-7CB7-9701-2B4B74C52893}"/>
              </a:ext>
            </a:extLst>
          </p:cNvPr>
          <p:cNvSpPr txBox="1"/>
          <p:nvPr/>
        </p:nvSpPr>
        <p:spPr>
          <a:xfrm>
            <a:off x="5189438" y="2459435"/>
            <a:ext cx="26314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+mj-lt"/>
              </a:rPr>
              <a:t>PAL combina el </a:t>
            </a:r>
            <a:r>
              <a:rPr lang="es-MX" b="1" dirty="0">
                <a:latin typeface="+mj-lt"/>
              </a:rPr>
              <a:t>razonamiento de </a:t>
            </a:r>
            <a:r>
              <a:rPr lang="es-MX" b="1" dirty="0" err="1">
                <a:latin typeface="+mj-lt"/>
              </a:rPr>
              <a:t>LLMs</a:t>
            </a:r>
            <a:r>
              <a:rPr lang="es-MX" b="1" dirty="0">
                <a:latin typeface="+mj-lt"/>
              </a:rPr>
              <a:t> con la precisión </a:t>
            </a:r>
            <a:r>
              <a:rPr lang="es-MX" dirty="0">
                <a:latin typeface="+mj-lt"/>
              </a:rPr>
              <a:t>de código ejecutable para cálculos exactos. Se utiliza para cálculos numéricos más complejos, que necesitan una secuencia de etapas.</a:t>
            </a:r>
            <a:endParaRPr lang="es-CL" dirty="0">
              <a:latin typeface="+mj-lt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D88A4BD-AA7F-77A7-70D7-106161425348}"/>
              </a:ext>
            </a:extLst>
          </p:cNvPr>
          <p:cNvSpPr txBox="1"/>
          <p:nvPr/>
        </p:nvSpPr>
        <p:spPr>
          <a:xfrm>
            <a:off x="8168640" y="1777665"/>
            <a:ext cx="1889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89"/>
              </a:spcBef>
              <a:spcAft>
                <a:spcPts val="1451"/>
              </a:spcAft>
              <a:buNone/>
            </a:pPr>
            <a:r>
              <a:rPr lang="es-CL" b="1" i="1" dirty="0">
                <a:effectLst/>
                <a:latin typeface="system-ui"/>
              </a:rPr>
              <a:t>Meta-</a:t>
            </a:r>
            <a:r>
              <a:rPr lang="es-CL" b="1" i="1" dirty="0" err="1">
                <a:effectLst/>
                <a:latin typeface="system-ui"/>
              </a:rPr>
              <a:t>Prompting</a:t>
            </a:r>
            <a:endParaRPr lang="es-CL" b="1" i="1" dirty="0">
              <a:effectLst/>
              <a:latin typeface="system-ui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AA51790-A77D-F4ED-1830-8D716694817B}"/>
              </a:ext>
            </a:extLst>
          </p:cNvPr>
          <p:cNvSpPr txBox="1"/>
          <p:nvPr/>
        </p:nvSpPr>
        <p:spPr>
          <a:xfrm>
            <a:off x="8104921" y="2410833"/>
            <a:ext cx="20984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+mj-lt"/>
              </a:rPr>
              <a:t>Meta-</a:t>
            </a:r>
            <a:r>
              <a:rPr lang="es-MX" dirty="0" err="1">
                <a:latin typeface="+mj-lt"/>
              </a:rPr>
              <a:t>prompting</a:t>
            </a:r>
            <a:r>
              <a:rPr lang="es-MX" dirty="0">
                <a:latin typeface="+mj-lt"/>
              </a:rPr>
              <a:t> usa el LLM para generar y optimizar </a:t>
            </a:r>
            <a:r>
              <a:rPr lang="es-MX" dirty="0" err="1">
                <a:latin typeface="+mj-lt"/>
              </a:rPr>
              <a:t>prompts</a:t>
            </a:r>
            <a:r>
              <a:rPr lang="es-MX" dirty="0">
                <a:latin typeface="+mj-lt"/>
              </a:rPr>
              <a:t> para tareas específicas.</a:t>
            </a:r>
            <a:endParaRPr lang="es-CL" dirty="0">
              <a:latin typeface="+mj-lt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AA99AB4-6B7F-7909-CD4F-7698AE7F395B}"/>
              </a:ext>
            </a:extLst>
          </p:cNvPr>
          <p:cNvSpPr txBox="1"/>
          <p:nvPr/>
        </p:nvSpPr>
        <p:spPr>
          <a:xfrm>
            <a:off x="10233879" y="1769748"/>
            <a:ext cx="2435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89"/>
              </a:spcBef>
              <a:spcAft>
                <a:spcPts val="1451"/>
              </a:spcAft>
              <a:buNone/>
            </a:pPr>
            <a:r>
              <a:rPr lang="es-CL" b="1" i="1" dirty="0" err="1">
                <a:effectLst/>
                <a:latin typeface="system-ui"/>
              </a:rPr>
              <a:t>Prompt</a:t>
            </a:r>
            <a:r>
              <a:rPr lang="es-CL" b="1" i="1" dirty="0">
                <a:effectLst/>
                <a:latin typeface="system-ui"/>
              </a:rPr>
              <a:t> </a:t>
            </a:r>
            <a:r>
              <a:rPr lang="es-CL" b="1" i="1" dirty="0" err="1">
                <a:effectLst/>
                <a:latin typeface="system-ui"/>
              </a:rPr>
              <a:t>Chaining</a:t>
            </a:r>
            <a:endParaRPr lang="es-CL" b="1" i="1" dirty="0">
              <a:effectLst/>
              <a:latin typeface="system-ui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E14901A-FD14-98EC-2D35-FC5B0E039ACA}"/>
              </a:ext>
            </a:extLst>
          </p:cNvPr>
          <p:cNvSpPr txBox="1"/>
          <p:nvPr/>
        </p:nvSpPr>
        <p:spPr>
          <a:xfrm>
            <a:off x="10233879" y="2449275"/>
            <a:ext cx="17013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 err="1">
                <a:latin typeface="+mj-lt"/>
              </a:rPr>
              <a:t>Prompt</a:t>
            </a:r>
            <a:r>
              <a:rPr lang="es-MX" dirty="0">
                <a:latin typeface="+mj-lt"/>
              </a:rPr>
              <a:t> </a:t>
            </a:r>
            <a:r>
              <a:rPr lang="es-MX" dirty="0" err="1">
                <a:latin typeface="+mj-lt"/>
              </a:rPr>
              <a:t>chaining</a:t>
            </a:r>
            <a:r>
              <a:rPr lang="es-MX" dirty="0">
                <a:latin typeface="+mj-lt"/>
              </a:rPr>
              <a:t> conecta múltiples </a:t>
            </a:r>
            <a:r>
              <a:rPr lang="es-MX" dirty="0" err="1">
                <a:latin typeface="+mj-lt"/>
              </a:rPr>
              <a:t>prompts</a:t>
            </a:r>
            <a:r>
              <a:rPr lang="es-MX" dirty="0">
                <a:latin typeface="+mj-lt"/>
              </a:rPr>
              <a:t> en secuencia, donde la salida de uno alimenta al siguiente</a:t>
            </a:r>
            <a:endParaRPr lang="es-CL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11771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658A0-794F-5921-15D7-173C2BEC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D5ADF8-A9FF-E866-10E0-2A117C96D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CL" b="1" i="1" dirty="0"/>
              <a:t>¿Cómo construir un buen </a:t>
            </a:r>
            <a:r>
              <a:rPr lang="es-CL" b="1" i="1" dirty="0" err="1"/>
              <a:t>prompt</a:t>
            </a:r>
            <a:r>
              <a:rPr lang="es-CL" b="1" i="1" dirty="0"/>
              <a:t>?</a:t>
            </a:r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4A59FE5F-6308-414A-B524-2C28C2A89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No hay descripción alternativa para esta imagen">
            <a:extLst>
              <a:ext uri="{FF2B5EF4-FFF2-40B4-BE49-F238E27FC236}">
                <a16:creationId xmlns:a16="http://schemas.microsoft.com/office/drawing/2014/main" id="{56550877-2049-8D3E-B996-E3A149F81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9140" y="1252153"/>
            <a:ext cx="6600825" cy="5177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236819F-4191-1CC2-08B6-5D22E8C9E284}"/>
              </a:ext>
            </a:extLst>
          </p:cNvPr>
          <p:cNvSpPr txBox="1"/>
          <p:nvPr/>
        </p:nvSpPr>
        <p:spPr>
          <a:xfrm>
            <a:off x="3112452" y="6245277"/>
            <a:ext cx="64104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Simplicity is the ultimate sophistication. (Leonardo da Vinci)</a:t>
            </a:r>
            <a:endParaRPr lang="es-CL" b="1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73217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1A072-4FB4-1AEA-6405-AD28382B2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EF6A2F-BEA6-1803-B104-1569CD39E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99214" y="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CL" b="1" i="1" dirty="0"/>
              <a:t>Idea: </a:t>
            </a:r>
            <a:r>
              <a:rPr lang="es-CL" i="1" dirty="0"/>
              <a:t>¿Qué construir?</a:t>
            </a:r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07FA739C-FD19-C7A3-92E5-12E2677E3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504857C-8158-13E6-E65D-FF5D0A702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087" y="1246386"/>
            <a:ext cx="3486329" cy="4629388"/>
          </a:xfrm>
          <a:prstGeom prst="rect">
            <a:avLst/>
          </a:prstGeom>
        </p:spPr>
      </p:pic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BF506C4D-D57F-2B42-AAAA-4288500E34C7}"/>
              </a:ext>
            </a:extLst>
          </p:cNvPr>
          <p:cNvCxnSpPr>
            <a:cxnSpLocks/>
          </p:cNvCxnSpPr>
          <p:nvPr/>
        </p:nvCxnSpPr>
        <p:spPr>
          <a:xfrm>
            <a:off x="8329097" y="532825"/>
            <a:ext cx="0" cy="4820707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50CF6536-C762-6FF0-C45A-ECE5BD764B4C}"/>
              </a:ext>
            </a:extLst>
          </p:cNvPr>
          <p:cNvCxnSpPr>
            <a:cxnSpLocks/>
          </p:cNvCxnSpPr>
          <p:nvPr/>
        </p:nvCxnSpPr>
        <p:spPr>
          <a:xfrm>
            <a:off x="5524937" y="3057585"/>
            <a:ext cx="5608320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855A544-5DD8-BE4C-D828-A49F7C67C2B2}"/>
              </a:ext>
            </a:extLst>
          </p:cNvPr>
          <p:cNvSpPr txBox="1"/>
          <p:nvPr/>
        </p:nvSpPr>
        <p:spPr>
          <a:xfrm>
            <a:off x="602207" y="6062606"/>
            <a:ext cx="7015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1" dirty="0"/>
              <a:t>Cementerios de Startup: </a:t>
            </a:r>
            <a:r>
              <a:rPr lang="es-CL" i="1" dirty="0"/>
              <a:t>https://startups.rip/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1349F77-222A-C1F1-5E97-659F1818C3FA}"/>
              </a:ext>
            </a:extLst>
          </p:cNvPr>
          <p:cNvSpPr txBox="1"/>
          <p:nvPr/>
        </p:nvSpPr>
        <p:spPr>
          <a:xfrm>
            <a:off x="6257668" y="1089010"/>
            <a:ext cx="1391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i="1" dirty="0" err="1">
                <a:solidFill>
                  <a:srgbClr val="C00000"/>
                </a:solidFill>
              </a:rPr>
              <a:t>Vices</a:t>
            </a:r>
            <a:endParaRPr lang="es-CL" b="1" i="1" dirty="0">
              <a:solidFill>
                <a:srgbClr val="C00000"/>
              </a:solidFill>
            </a:endParaRPr>
          </a:p>
          <a:p>
            <a:r>
              <a:rPr lang="es-CL" b="1" i="1" dirty="0">
                <a:solidFill>
                  <a:srgbClr val="C00000"/>
                </a:solidFill>
              </a:rPr>
              <a:t>(vicios)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74483BE-E5DF-870B-333B-AC0F473F6083}"/>
              </a:ext>
            </a:extLst>
          </p:cNvPr>
          <p:cNvSpPr txBox="1"/>
          <p:nvPr/>
        </p:nvSpPr>
        <p:spPr>
          <a:xfrm>
            <a:off x="9741339" y="1144849"/>
            <a:ext cx="1391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i="1" dirty="0" err="1">
                <a:solidFill>
                  <a:schemeClr val="accent6"/>
                </a:solidFill>
              </a:rPr>
              <a:t>Wholesome</a:t>
            </a:r>
            <a:endParaRPr lang="es-CL" b="1" i="1" dirty="0">
              <a:solidFill>
                <a:schemeClr val="accent6"/>
              </a:solidFill>
            </a:endParaRPr>
          </a:p>
          <a:p>
            <a:r>
              <a:rPr lang="es-CL" b="1" i="1" dirty="0">
                <a:solidFill>
                  <a:schemeClr val="accent6"/>
                </a:solidFill>
              </a:rPr>
              <a:t>(sano)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E742445-4608-FFD7-0081-DF1CDD4A59B4}"/>
              </a:ext>
            </a:extLst>
          </p:cNvPr>
          <p:cNvSpPr txBox="1"/>
          <p:nvPr/>
        </p:nvSpPr>
        <p:spPr>
          <a:xfrm>
            <a:off x="6231058" y="3187668"/>
            <a:ext cx="1391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i="1" dirty="0" err="1">
                <a:solidFill>
                  <a:schemeClr val="accent1"/>
                </a:solidFill>
              </a:rPr>
              <a:t>Toxic</a:t>
            </a:r>
            <a:endParaRPr lang="es-CL" b="1" i="1" dirty="0">
              <a:solidFill>
                <a:schemeClr val="accent1"/>
              </a:solidFill>
            </a:endParaRPr>
          </a:p>
          <a:p>
            <a:r>
              <a:rPr lang="es-CL" b="1" i="1" dirty="0">
                <a:solidFill>
                  <a:schemeClr val="accent1"/>
                </a:solidFill>
              </a:rPr>
              <a:t>(toxico)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E0FFF16-16C2-0C14-BB68-7D4B67D87B5B}"/>
              </a:ext>
            </a:extLst>
          </p:cNvPr>
          <p:cNvSpPr txBox="1"/>
          <p:nvPr/>
        </p:nvSpPr>
        <p:spPr>
          <a:xfrm>
            <a:off x="9507103" y="3272519"/>
            <a:ext cx="1971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i="1" dirty="0">
                <a:solidFill>
                  <a:srgbClr val="FFC000"/>
                </a:solidFill>
              </a:rPr>
              <a:t>Chores</a:t>
            </a:r>
          </a:p>
          <a:p>
            <a:r>
              <a:rPr lang="es-CL" b="1" i="1" dirty="0">
                <a:solidFill>
                  <a:srgbClr val="FFC000"/>
                </a:solidFill>
              </a:rPr>
              <a:t>(tareas rutinarias)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88E4CDB-450E-FAAF-83AA-5623C6824247}"/>
              </a:ext>
            </a:extLst>
          </p:cNvPr>
          <p:cNvSpPr txBox="1"/>
          <p:nvPr/>
        </p:nvSpPr>
        <p:spPr>
          <a:xfrm>
            <a:off x="6098663" y="2639239"/>
            <a:ext cx="303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i="1" dirty="0" err="1"/>
              <a:t>Bad</a:t>
            </a:r>
            <a:r>
              <a:rPr lang="es-CL" b="1" i="1" dirty="0"/>
              <a:t> </a:t>
            </a:r>
            <a:r>
              <a:rPr lang="es-CL" b="1" i="1" dirty="0" err="1"/>
              <a:t>for</a:t>
            </a:r>
            <a:r>
              <a:rPr lang="es-CL" b="1" i="1" dirty="0"/>
              <a:t> </a:t>
            </a:r>
            <a:r>
              <a:rPr lang="es-CL" b="1" i="1" dirty="0" err="1"/>
              <a:t>you</a:t>
            </a:r>
            <a:endParaRPr lang="es-CL" b="1" i="1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8044EA5-458E-AA93-FF59-5716A172B098}"/>
              </a:ext>
            </a:extLst>
          </p:cNvPr>
          <p:cNvSpPr txBox="1"/>
          <p:nvPr/>
        </p:nvSpPr>
        <p:spPr>
          <a:xfrm>
            <a:off x="9136711" y="2615625"/>
            <a:ext cx="303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i="1" dirty="0"/>
              <a:t>Good </a:t>
            </a:r>
            <a:r>
              <a:rPr lang="es-CL" b="1" i="1" dirty="0" err="1"/>
              <a:t>for</a:t>
            </a:r>
            <a:r>
              <a:rPr lang="es-CL" b="1" i="1" dirty="0"/>
              <a:t> </a:t>
            </a:r>
            <a:r>
              <a:rPr lang="es-CL" b="1" i="1" dirty="0" err="1"/>
              <a:t>you</a:t>
            </a:r>
            <a:endParaRPr lang="es-CL" b="1" i="1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26A6338-B070-4003-2A2F-3D1AC0484AF4}"/>
              </a:ext>
            </a:extLst>
          </p:cNvPr>
          <p:cNvSpPr txBox="1"/>
          <p:nvPr/>
        </p:nvSpPr>
        <p:spPr>
          <a:xfrm>
            <a:off x="8298962" y="855882"/>
            <a:ext cx="303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i="1" dirty="0" err="1"/>
              <a:t>Enjoyable</a:t>
            </a:r>
            <a:endParaRPr lang="es-CL" b="1" i="1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2F801DD-765B-799B-8586-9CEF9F3C8DC6}"/>
              </a:ext>
            </a:extLst>
          </p:cNvPr>
          <p:cNvSpPr txBox="1"/>
          <p:nvPr/>
        </p:nvSpPr>
        <p:spPr>
          <a:xfrm>
            <a:off x="8329097" y="4835848"/>
            <a:ext cx="303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i="1" dirty="0" err="1"/>
              <a:t>Unpleasant</a:t>
            </a:r>
            <a:endParaRPr lang="es-CL" b="1" i="1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A8DFF91-D8C2-82F0-001C-4D69462B9254}"/>
              </a:ext>
            </a:extLst>
          </p:cNvPr>
          <p:cNvSpPr txBox="1"/>
          <p:nvPr/>
        </p:nvSpPr>
        <p:spPr>
          <a:xfrm>
            <a:off x="8547431" y="4133783"/>
            <a:ext cx="3038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i="1" dirty="0"/>
              <a:t>Cursos de entrenamiento (trabajo) 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8DEC8C6-AB86-9828-2388-1550872ED7DC}"/>
              </a:ext>
            </a:extLst>
          </p:cNvPr>
          <p:cNvSpPr txBox="1"/>
          <p:nvPr/>
        </p:nvSpPr>
        <p:spPr>
          <a:xfrm>
            <a:off x="5819922" y="4339867"/>
            <a:ext cx="303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i="1" dirty="0"/>
              <a:t>Control de gastos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A2CE433-E5CE-EB1A-ED29-45F04281C369}"/>
              </a:ext>
            </a:extLst>
          </p:cNvPr>
          <p:cNvSpPr txBox="1"/>
          <p:nvPr/>
        </p:nvSpPr>
        <p:spPr>
          <a:xfrm>
            <a:off x="8547431" y="1971292"/>
            <a:ext cx="303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i="1" dirty="0" err="1"/>
              <a:t>playing</a:t>
            </a:r>
            <a:r>
              <a:rPr lang="es-CL" i="1" dirty="0"/>
              <a:t> </a:t>
            </a:r>
            <a:r>
              <a:rPr lang="es-CL" i="1" dirty="0" err="1"/>
              <a:t>games</a:t>
            </a:r>
            <a:endParaRPr lang="es-CL" i="1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9351118B-8416-99DC-95C1-7FCBA7C722B6}"/>
              </a:ext>
            </a:extLst>
          </p:cNvPr>
          <p:cNvSpPr txBox="1"/>
          <p:nvPr/>
        </p:nvSpPr>
        <p:spPr>
          <a:xfrm>
            <a:off x="5350230" y="5452195"/>
            <a:ext cx="70154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b="1" i="1" dirty="0" err="1"/>
              <a:t>Wholesome</a:t>
            </a:r>
            <a:r>
              <a:rPr lang="es-CL" sz="1600" i="1" dirty="0"/>
              <a:t>: No usen AI. Disfrútenlas.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b="1" i="1" dirty="0" err="1"/>
              <a:t>Toxic</a:t>
            </a:r>
            <a:r>
              <a:rPr lang="es-CL" sz="1600" b="1" i="1" dirty="0"/>
              <a:t>: </a:t>
            </a:r>
            <a:r>
              <a:rPr lang="es-CL" sz="1600" i="1" dirty="0"/>
              <a:t>Usa AI para automatizarlo o eliminarlo. No queremos lidiar con ellas.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b="1" i="1" dirty="0"/>
              <a:t>Chores</a:t>
            </a:r>
            <a:r>
              <a:rPr lang="es-CL" sz="1600" i="1" dirty="0"/>
              <a:t>: Usen AI para ayudarlos a hacerlo más placentero. (Sigan pensando)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b="1" i="1" dirty="0" err="1"/>
              <a:t>Vices</a:t>
            </a:r>
            <a:r>
              <a:rPr lang="es-CL" sz="1600" b="1" i="1" dirty="0"/>
              <a:t>: </a:t>
            </a:r>
            <a:r>
              <a:rPr lang="es-CL" sz="1600" i="1" dirty="0"/>
              <a:t>Usen AI para evitar de hacerlo, o que la AI lo haga por ustedes.</a:t>
            </a:r>
            <a:endParaRPr lang="es-CL" i="1" dirty="0"/>
          </a:p>
        </p:txBody>
      </p:sp>
    </p:spTree>
    <p:extLst>
      <p:ext uri="{BB962C8B-B14F-4D97-AF65-F5344CB8AC3E}">
        <p14:creationId xmlns:p14="http://schemas.microsoft.com/office/powerpoint/2010/main" val="38034868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3060</TotalTime>
  <Words>725</Words>
  <Application>Microsoft Office PowerPoint</Application>
  <PresentationFormat>Panorámica</PresentationFormat>
  <Paragraphs>107</Paragraphs>
  <Slides>15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system-ui</vt:lpstr>
      <vt:lpstr>Tema de Office</vt:lpstr>
      <vt:lpstr>Ingeniería de soluciones con AI</vt:lpstr>
      <vt:lpstr>Noticias: Yann LeCun, pionero en AI, reclama que los LLMs no son capaces de entender el mundo físico.</vt:lpstr>
      <vt:lpstr>Clase 1.2: Técnicas de Prompt Engineering</vt:lpstr>
      <vt:lpstr>Why: ¿Por qué los LLMs no me responden como quiero?</vt:lpstr>
      <vt:lpstr>Hallucinate: El talón de Aquiles de los LLMs.</vt:lpstr>
      <vt:lpstr>Prompt Engineering es una técnica para mejorar las respuestas de los modelos, buscando consistencia, reducción de alucinaciones y personalización de los LLMs.</vt:lpstr>
      <vt:lpstr>Presentación de PowerPoint</vt:lpstr>
      <vt:lpstr>Presentación de PowerPoint</vt:lpstr>
      <vt:lpstr>¿Cuáles son las técnicas de Prompt Engineering?</vt:lpstr>
      <vt:lpstr>Zero – Shot Prompting</vt:lpstr>
      <vt:lpstr>Few-Shot Prompting</vt:lpstr>
      <vt:lpstr>Chain-of-Thought (COF)</vt:lpstr>
      <vt:lpstr>Técnicas avanzadas de Prompting</vt:lpstr>
      <vt:lpstr>¿Cómo construir un buen prompt?</vt:lpstr>
      <vt:lpstr>Idea: ¿Qué construir?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19</cp:revision>
  <dcterms:created xsi:type="dcterms:W3CDTF">2026-03-06T13:35:57Z</dcterms:created>
  <dcterms:modified xsi:type="dcterms:W3CDTF">2026-03-13T16:44:05Z</dcterms:modified>
</cp:coreProperties>
</file>